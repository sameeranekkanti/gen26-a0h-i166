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24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7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8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B727F43-F0B9-4953-A1C8-0177092162AB}" type="slidenum"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DF1924-EB14-4F80-96AA-C0A2F9D8030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>
              <a:buNone/>
            </a:pPr>
            <a:r>
              <a:rPr lang="en-US" sz="1200" dirty="0"/>
              <a:t>Open with the pattern: sleep slips, stress builds, the student withdraws, and nobody sees it because each signal lives in a different place.</a:t>
            </a:r>
          </a:p>
          <a:p>
            <a:pPr marL="0" indent="0">
              <a:buNone/>
            </a:pPr>
            <a:r>
              <a:rPr lang="en-US" sz="1200" dirty="0"/>
              <a:t>Key point: today's support starts only when the student asks. Our problem is how to notice early and respect privacy, then make asking unnecessary.</a:t>
            </a:r>
          </a:p>
        </p:txBody>
      </p:sp>
      <p:sp>
        <p:nvSpPr>
          <p:cNvPr id="11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052E9C-0C61-4061-8B61-933533D0E68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>
              <a:buNone/>
            </a:pPr>
            <a:r>
              <a:rPr lang="en-US" sz="1200" dirty="0"/>
              <a:t>Primary users are all students, but first-years, hostel residents and final-years are the highest-pressure groups.</a:t>
            </a:r>
          </a:p>
          <a:p>
            <a:pPr marL="0" indent="0">
              <a:buNone/>
            </a:pPr>
            <a:r>
              <a:rPr lang="en-US" sz="1200" dirty="0"/>
              <a:t>Stress the quiet strugglers: they are exactly the people a walk-in counselling model never reaches.</a:t>
            </a:r>
          </a:p>
        </p:txBody>
      </p:sp>
      <p:sp>
        <p:nvSpPr>
          <p:cNvPr id="12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7FB8A0-C7DD-4E04-B278-E5406978963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>
              <a:buNone/>
            </a:pPr>
            <a:r>
              <a:rPr lang="en-US" sz="1200" dirty="0"/>
              <a:t>Walk the five-step workflow left to right: the whole chain is reactive, so help arrives after the damage.</a:t>
            </a:r>
          </a:p>
          <a:p>
            <a:pPr marL="0" indent="0">
              <a:buNone/>
            </a:pPr>
            <a:r>
              <a:rPr lang="en-US" sz="1200" dirty="0"/>
              <a:t>Verify the three facts on this slide against the original sources before the final submission (Kessler 2005, NCRB ADSI, NMHS 2015-16).</a:t>
            </a:r>
          </a:p>
        </p:txBody>
      </p:sp>
      <p:sp>
        <p:nvSpPr>
          <p:cNvPr id="12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7FE605-19F3-4088-B9BE-1D7C29E5CB1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>
              <a:buNone/>
            </a:pPr>
            <a:r>
              <a:rPr lang="en-US" sz="1200" dirty="0"/>
              <a:t>Read it as a chain: bottlenecks come from root causes, and the consequences are why this matters.</a:t>
            </a:r>
          </a:p>
          <a:p>
            <a:pPr marL="0" indent="0">
              <a:buNone/>
            </a:pPr>
            <a:r>
              <a:rPr lang="en-US" sz="1200" dirty="0"/>
              <a:t>The root cause to remember: there is no personal baseline and no consent-based path from signal to support.</a:t>
            </a:r>
          </a:p>
        </p:txBody>
      </p:sp>
      <p:sp>
        <p:nvSpPr>
          <p:cNvPr id="12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657524-908C-490E-9657-CEB7141410A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>
              <a:buNone/>
            </a:pPr>
            <a:r>
              <a:rPr lang="en-US" sz="1200" dirty="0"/>
              <a:t>Every existing option is either self-initiated, a yearly snapshot, or triggered only after academic damage.</a:t>
            </a:r>
          </a:p>
          <a:p>
            <a:pPr marL="0" indent="0">
              <a:buNone/>
            </a:pPr>
            <a:r>
              <a:rPr lang="en-US" sz="1200" dirty="0"/>
              <a:t>Close on the gap: proactive, personal-baseline, privacy-first, linked to human support. That is where Thunai sits.</a:t>
            </a:r>
          </a:p>
        </p:txBody>
      </p:sp>
      <p:sp>
        <p:nvSpPr>
          <p:cNvPr id="13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3BD677-766F-4EAA-B5E3-82EF26D3130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>
              <a:buNone/>
            </a:pPr>
            <a:r>
              <a:rPr lang="en-US" sz="1200" dirty="0"/>
              <a:t>Emphasise that no new hardware is needed: the student's phone is the sensor and the processing happens on it.</a:t>
            </a:r>
          </a:p>
          <a:p>
            <a:pPr marL="0" indent="0">
              <a:buNone/>
            </a:pPr>
            <a:r>
              <a:rPr lang="en-US" sz="1200" dirty="0"/>
              <a:t>The human resources matter as much as the tech: a counsellor to validate thresholds and trained peer-supporters.</a:t>
            </a:r>
          </a:p>
        </p:txBody>
      </p:sp>
      <p:sp>
        <p:nvSpPr>
          <p:cNvPr id="13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7AC86-F8E6-4EBB-A501-073024EDC25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>
              <a:buNone/>
            </a:pPr>
            <a:r>
              <a:rPr lang="en-US" sz="1200" dirty="0"/>
              <a:t>Thunai in one line: it notices when a student drifts from their own normal, tells only them first, and makes reaching a human one tap.</a:t>
            </a:r>
          </a:p>
          <a:p>
            <a:pPr marL="0" indent="0">
              <a:buNone/>
            </a:pPr>
            <a:r>
              <a:rPr lang="en-US" sz="1200" dirty="0"/>
              <a:t>Design rules to mention: raw data stays on device, consent is granular and revocable, no use in grades or discipline, a human always makes the final call, and crisis signals go straight to a counsellor or Tele-MANAS 14416.</a:t>
            </a:r>
          </a:p>
          <a:p>
            <a:pPr marL="0" indent="0">
              <a:buNone/>
            </a:pPr>
            <a:r>
              <a:rPr lang="en-US" sz="1200" dirty="0"/>
              <a:t>Targets are pilot goals to validate, not claims.</a:t>
            </a:r>
          </a:p>
        </p:txBody>
      </p:sp>
      <p:sp>
        <p:nvSpPr>
          <p:cNvPr id="13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5D792B-511E-4C0A-94DE-B7AB9547E22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ENESIS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ENESI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5BBABC6B-3AF5-409B-8245-E2DA3B0766E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600" y="320040"/>
            <a:ext cx="822600" cy="8226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" name="Image 0" descr="Genesis logo"/>
          <p:cNvPicPr/>
          <p:nvPr/>
        </p:nvPicPr>
        <p:blipFill>
          <a:blip r:embed="rId3"/>
          <a:stretch/>
        </p:blipFill>
        <p:spPr>
          <a:xfrm>
            <a:off x="11055960" y="384120"/>
            <a:ext cx="533880" cy="694440"/>
          </a:xfrm>
          <a:prstGeom prst="rect">
            <a:avLst/>
          </a:prstGeom>
          <a:ln w="0">
            <a:noFill/>
          </a:ln>
        </p:spPr>
      </p:pic>
      <p:sp>
        <p:nvSpPr>
          <p:cNvPr id="4" name="Shap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2"/>
          <p:cNvSpPr/>
          <p:nvPr/>
        </p:nvSpPr>
        <p:spPr>
          <a:xfrm>
            <a:off x="2286000" y="6355080"/>
            <a:ext cx="7619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97">
                <a:solidFill>
                  <a:schemeClr val="accent6"/>
                </a:solidFill>
                <a:latin typeface="Calibri"/>
              </a:rPr>
              <a:t>Genesis Ideathon – Pre-Ideathon Template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259000" y="6409800"/>
            <a:ext cx="456840" cy="3956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Text 4"/>
          <p:cNvSpPr/>
          <p:nvPr/>
        </p:nvSpPr>
        <p:spPr>
          <a:xfrm rot="5400000">
            <a:off x="10610640" y="4686120"/>
            <a:ext cx="1424880" cy="1234080"/>
          </a:xfrm>
          <a:prstGeom prst="hexagon">
            <a:avLst>
              <a:gd name="adj" fmla="val 25000"/>
              <a:gd name="vf" fmla="val 115470"/>
            </a:avLst>
          </a:prstGeom>
          <a:noFill/>
          <a:ln w="15875">
            <a:solidFill>
              <a:srgbClr val="4FA278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Text 5"/>
          <p:cNvSpPr/>
          <p:nvPr/>
        </p:nvSpPr>
        <p:spPr>
          <a:xfrm rot="5400000">
            <a:off x="9750960" y="5349240"/>
            <a:ext cx="950040" cy="822600"/>
          </a:xfrm>
          <a:prstGeom prst="hexagon">
            <a:avLst>
              <a:gd name="adj" fmla="val 25000"/>
              <a:gd name="vf" fmla="val 115470"/>
            </a:avLst>
          </a:prstGeom>
          <a:noFill/>
          <a:ln w="15875">
            <a:solidFill>
              <a:srgbClr val="4FA278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 6"/>
          <p:cNvSpPr/>
          <p:nvPr/>
        </p:nvSpPr>
        <p:spPr>
          <a:xfrm rot="5400000">
            <a:off x="11579760" y="3840480"/>
            <a:ext cx="950040" cy="822600"/>
          </a:xfrm>
          <a:prstGeom prst="hexagon">
            <a:avLst>
              <a:gd name="adj" fmla="val 25000"/>
              <a:gd name="vf" fmla="val 115470"/>
            </a:avLst>
          </a:prstGeom>
          <a:noFill/>
          <a:ln w="15875">
            <a:solidFill>
              <a:srgbClr val="4FA278">
                <a:alpha val="1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246120" y="320040"/>
            <a:ext cx="749772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97">
                <a:solidFill>
                  <a:schemeClr val="dk2"/>
                </a:solidFill>
                <a:latin typeface="Cambria"/>
                <a:ea typeface="Cambria"/>
              </a:rPr>
              <a:t>SLIDE TITLE</a:t>
            </a:r>
            <a:endParaRPr lang="en-IN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1"/>
          </p:nvPr>
        </p:nvSpPr>
        <p:spPr>
          <a:xfrm>
            <a:off x="11259000" y="6409800"/>
            <a:ext cx="45684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100" b="1" strike="noStrike" spc="-1">
                <a:solidFill>
                  <a:schemeClr val="dk2"/>
                </a:solidFill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CFECD37-8ED5-4261-8100-E9CAE042F071}" type="slidenum">
              <a:rPr lang="en-US" sz="1100" b="1" strike="noStrike" spc="-1">
                <a:solidFill>
                  <a:schemeClr val="dk2"/>
                </a:solidFill>
                <a:latin typeface="Calibri"/>
                <a:ea typeface="Calibri"/>
              </a:rPr>
              <a:t>‹#›</a:t>
            </a:fld>
            <a:endParaRPr lang="en-IN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ver Hexagon"/>
          <p:cNvSpPr/>
          <p:nvPr/>
        </p:nvSpPr>
        <p:spPr>
          <a:xfrm rot="5400000">
            <a:off x="8841960" y="-1222560"/>
            <a:ext cx="3695040" cy="3200040"/>
          </a:xfrm>
          <a:prstGeom prst="hexagon">
            <a:avLst>
              <a:gd name="adj" fmla="val 25000"/>
              <a:gd name="vf" fmla="val 115470"/>
            </a:avLst>
          </a:prstGeom>
          <a:noFill/>
          <a:ln w="15875">
            <a:solidFill>
              <a:srgbClr val="4FA278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Cover Hexagon"/>
          <p:cNvSpPr/>
          <p:nvPr/>
        </p:nvSpPr>
        <p:spPr>
          <a:xfrm rot="5400000">
            <a:off x="10524240" y="1691280"/>
            <a:ext cx="3695040" cy="32000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alpha val="25000"/>
            </a:schemeClr>
          </a:solidFill>
          <a:ln w="15875">
            <a:solidFill>
              <a:srgbClr val="4FA278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Cover Hexagon"/>
          <p:cNvSpPr/>
          <p:nvPr/>
        </p:nvSpPr>
        <p:spPr>
          <a:xfrm rot="5400000">
            <a:off x="8841960" y="4605480"/>
            <a:ext cx="3695040" cy="3200040"/>
          </a:xfrm>
          <a:prstGeom prst="hexagon">
            <a:avLst>
              <a:gd name="adj" fmla="val 25000"/>
              <a:gd name="vf" fmla="val 115470"/>
            </a:avLst>
          </a:prstGeom>
          <a:noFill/>
          <a:ln w="15875">
            <a:solidFill>
              <a:srgbClr val="4FA278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Cover Hexagon"/>
          <p:cNvSpPr/>
          <p:nvPr/>
        </p:nvSpPr>
        <p:spPr>
          <a:xfrm rot="5400000">
            <a:off x="6613920" y="3177360"/>
            <a:ext cx="580320" cy="50256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Cover Hexagon"/>
          <p:cNvSpPr/>
          <p:nvPr/>
        </p:nvSpPr>
        <p:spPr>
          <a:xfrm rot="5400000">
            <a:off x="10849680" y="1728360"/>
            <a:ext cx="337680" cy="29232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alpha val="7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Cover Hexagon"/>
          <p:cNvSpPr/>
          <p:nvPr/>
        </p:nvSpPr>
        <p:spPr>
          <a:xfrm rot="5400000">
            <a:off x="6869160" y="1440000"/>
            <a:ext cx="4275720" cy="370296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alpha val="4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Cover Hexagon"/>
          <p:cNvSpPr/>
          <p:nvPr/>
        </p:nvSpPr>
        <p:spPr>
          <a:xfrm rot="5400000">
            <a:off x="6756120" y="4800600"/>
            <a:ext cx="844200" cy="731160"/>
          </a:xfrm>
          <a:prstGeom prst="hexagon">
            <a:avLst>
              <a:gd name="adj" fmla="val 25000"/>
              <a:gd name="vf" fmla="val 115470"/>
            </a:avLst>
          </a:prstGeom>
          <a:noFill/>
          <a:ln w="19050">
            <a:solidFill>
              <a:srgbClr val="7AC143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Cover Hexagon"/>
          <p:cNvSpPr/>
          <p:nvPr/>
        </p:nvSpPr>
        <p:spPr>
          <a:xfrm rot="5400000">
            <a:off x="7159320" y="1691280"/>
            <a:ext cx="3695040" cy="32000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1"/>
          </a:solidFill>
          <a:ln w="38100">
            <a:solidFill>
              <a:srgbClr val="7AC1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Genesis Logo" descr="Genesis logo"/>
          <p:cNvPicPr/>
          <p:nvPr/>
        </p:nvPicPr>
        <p:blipFill>
          <a:blip r:embed="rId3"/>
          <a:stretch/>
        </p:blipFill>
        <p:spPr>
          <a:xfrm>
            <a:off x="8110800" y="2126160"/>
            <a:ext cx="1791720" cy="2331360"/>
          </a:xfrm>
          <a:prstGeom prst="rect">
            <a:avLst/>
          </a:prstGeom>
          <a:ln w="0">
            <a:noFill/>
          </a:ln>
        </p:spPr>
      </p:pic>
      <p:sp>
        <p:nvSpPr>
          <p:cNvPr id="28" name="Kicker"/>
          <p:cNvSpPr/>
          <p:nvPr/>
        </p:nvSpPr>
        <p:spPr>
          <a:xfrm>
            <a:off x="548640" y="50292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398">
                <a:solidFill>
                  <a:schemeClr val="accent3"/>
                </a:solidFill>
                <a:latin typeface="Calibri"/>
              </a:rPr>
              <a:t>PRE-IDEATHON TEMPLATE</a:t>
            </a:r>
            <a:endParaRPr lang="en-IN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Event Title"/>
          <p:cNvSpPr/>
          <p:nvPr/>
        </p:nvSpPr>
        <p:spPr>
          <a:xfrm>
            <a:off x="548640" y="868680"/>
            <a:ext cx="566892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5400" b="1" strike="noStrike" spc="199">
                <a:solidFill>
                  <a:schemeClr val="lt1"/>
                </a:solidFill>
                <a:latin typeface="Cambria"/>
                <a:ea typeface="Cambria"/>
              </a:rPr>
              <a:t>GENESIS</a:t>
            </a:r>
            <a:endParaRPr lang="en-IN" sz="54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5400" b="1" strike="noStrike" spc="199">
                <a:solidFill>
                  <a:schemeClr val="accent3"/>
                </a:solidFill>
                <a:latin typeface="Cambria"/>
                <a:ea typeface="Cambria"/>
              </a:rPr>
              <a:t>IDEATHON</a:t>
            </a:r>
            <a:endParaRPr lang="en-IN" sz="5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ection Chip"/>
          <p:cNvSpPr/>
          <p:nvPr/>
        </p:nvSpPr>
        <p:spPr>
          <a:xfrm>
            <a:off x="548640" y="2606040"/>
            <a:ext cx="2102760" cy="383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7AC1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299">
                <a:solidFill>
                  <a:schemeClr val="lt1"/>
                </a:solidFill>
                <a:latin typeface="Calibri"/>
              </a:rPr>
              <a:t>TEAM &amp; DOMAIN</a:t>
            </a:r>
            <a:endParaRPr lang="en-IN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Cover Lead"/>
          <p:cNvSpPr/>
          <p:nvPr/>
        </p:nvSpPr>
        <p:spPr>
          <a:xfrm>
            <a:off x="548640" y="310896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Cover Fields"/>
          <p:cNvSpPr/>
          <p:nvPr/>
        </p:nvSpPr>
        <p:spPr>
          <a:xfrm>
            <a:off x="576000" y="3138480"/>
            <a:ext cx="626400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79360" indent="-279360" defTabSz="914400">
              <a:lnSpc>
                <a:spcPct val="100000"/>
              </a:lnSpc>
              <a:spcAft>
                <a:spcPts val="1400"/>
              </a:spcAft>
              <a:buClr>
                <a:srgbClr val="7AC143"/>
              </a:buClr>
              <a:buFont typeface="Symbol" charset="2"/>
              <a:buChar char=""/>
            </a:pPr>
            <a:r>
              <a:rPr lang="en-US" sz="1800" b="0" strike="noStrike" spc="-1" dirty="0">
                <a:solidFill>
                  <a:schemeClr val="lt1"/>
                </a:solidFill>
                <a:latin typeface="Calibri"/>
              </a:rPr>
              <a:t>Team Name – </a:t>
            </a:r>
            <a:r>
              <a:rPr lang="en-US" sz="1800" b="0" strike="noStrike" spc="-1" dirty="0" err="1">
                <a:solidFill>
                  <a:schemeClr val="lt1"/>
                </a:solidFill>
                <a:latin typeface="Calibri"/>
              </a:rPr>
              <a:t>FixedHacks</a:t>
            </a:r>
            <a:endParaRPr lang="en-IN" sz="1800" b="0" strike="noStrike" spc="-1" dirty="0">
              <a:solidFill>
                <a:srgbClr val="FFFFFF"/>
              </a:solidFill>
              <a:latin typeface="Arial"/>
            </a:endParaRPr>
          </a:p>
          <a:p>
            <a:pPr marL="279360" indent="-279360" defTabSz="914400">
              <a:lnSpc>
                <a:spcPct val="100000"/>
              </a:lnSpc>
              <a:spcAft>
                <a:spcPts val="1400"/>
              </a:spcAft>
              <a:buClr>
                <a:srgbClr val="7AC143"/>
              </a:buClr>
              <a:buFont typeface="Symbol" charset="2"/>
              <a:buChar char=""/>
            </a:pPr>
            <a:r>
              <a:rPr lang="en-US" sz="1800" b="0" strike="noStrike" spc="-1" dirty="0">
                <a:solidFill>
                  <a:schemeClr val="lt1"/>
                </a:solidFill>
                <a:latin typeface="Calibri"/>
              </a:rPr>
              <a:t>Team Members – </a:t>
            </a:r>
            <a:r>
              <a:rPr lang="en-US" sz="1800" b="0" strike="noStrike" spc="-1" dirty="0" err="1">
                <a:solidFill>
                  <a:schemeClr val="lt1"/>
                </a:solidFill>
                <a:latin typeface="Calibri"/>
              </a:rPr>
              <a:t>Muppalla</a:t>
            </a:r>
            <a:r>
              <a:rPr lang="en-US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en-US" sz="1800" b="0" strike="noStrike" spc="-1" dirty="0" err="1">
                <a:solidFill>
                  <a:schemeClr val="lt1"/>
                </a:solidFill>
                <a:latin typeface="Calibri"/>
              </a:rPr>
              <a:t>Rishvita</a:t>
            </a:r>
            <a:r>
              <a:rPr lang="en-US" sz="1800" b="0" strike="noStrike" spc="-1" dirty="0">
                <a:solidFill>
                  <a:schemeClr val="lt1"/>
                </a:solidFill>
                <a:latin typeface="Calibri"/>
              </a:rPr>
              <a:t>     CB.SC.U4CSE25731</a:t>
            </a:r>
            <a:br>
              <a:rPr sz="1800" dirty="0"/>
            </a:br>
            <a:r>
              <a:rPr lang="en-US" sz="1800" b="0" strike="noStrike" spc="-1" dirty="0">
                <a:solidFill>
                  <a:schemeClr val="lt1"/>
                </a:solidFill>
                <a:latin typeface="Calibri"/>
              </a:rPr>
              <a:t>	                   N Sai Sameera Ram   CB.SC.U4CSE25735</a:t>
            </a:r>
            <a:br>
              <a:rPr sz="1800" dirty="0"/>
            </a:br>
            <a:r>
              <a:rPr lang="en-US" sz="1800" b="0" strike="noStrike" spc="-1" dirty="0">
                <a:solidFill>
                  <a:schemeClr val="lt1"/>
                </a:solidFill>
                <a:latin typeface="Calibri"/>
              </a:rPr>
              <a:t>	                   Jiya P                            CB.SC.U4CSE25719</a:t>
            </a:r>
            <a:br>
              <a:rPr sz="1800" dirty="0"/>
            </a:br>
            <a:r>
              <a:rPr lang="en-US" sz="1800" b="0" strike="noStrike" spc="-1" dirty="0">
                <a:solidFill>
                  <a:schemeClr val="lt1"/>
                </a:solidFill>
                <a:latin typeface="Calibri"/>
              </a:rPr>
              <a:t>	                  Nandhana M. Menon CB.SC.U4CSE25733</a:t>
            </a:r>
            <a:endParaRPr lang="en-IN" sz="1800" b="0" strike="noStrike" spc="-1" dirty="0">
              <a:solidFill>
                <a:srgbClr val="FFFFFF"/>
              </a:solidFill>
              <a:latin typeface="Arial"/>
            </a:endParaRPr>
          </a:p>
          <a:p>
            <a:pPr marL="279360" indent="-279360" defTabSz="914400">
              <a:lnSpc>
                <a:spcPct val="100000"/>
              </a:lnSpc>
              <a:spcAft>
                <a:spcPts val="1400"/>
              </a:spcAft>
              <a:buClr>
                <a:srgbClr val="7AC143"/>
              </a:buClr>
              <a:buFont typeface="Symbol" charset="2"/>
              <a:buChar char=""/>
            </a:pPr>
            <a:r>
              <a:rPr lang="en-US" sz="1800" b="0" strike="noStrike" spc="-1" dirty="0">
                <a:solidFill>
                  <a:schemeClr val="lt1"/>
                </a:solidFill>
                <a:latin typeface="Calibri"/>
              </a:rPr>
              <a:t>Selected Domain – Healthcare, Biotechnology &amp; Human Well-being</a:t>
            </a:r>
            <a:endParaRPr lang="en-IN" sz="1800" b="0" strike="noStrike" spc="-1" dirty="0">
              <a:solidFill>
                <a:srgbClr val="FFFFFF"/>
              </a:solidFill>
              <a:latin typeface="Arial"/>
            </a:endParaRPr>
          </a:p>
          <a:p>
            <a:pPr marL="279360" indent="-279360" defTabSz="914400">
              <a:lnSpc>
                <a:spcPct val="100000"/>
              </a:lnSpc>
              <a:spcAft>
                <a:spcPts val="1400"/>
              </a:spcAft>
              <a:buClr>
                <a:srgbClr val="7AC143"/>
              </a:buClr>
              <a:buFont typeface="Symbol" charset="2"/>
              <a:buChar char=""/>
            </a:pPr>
            <a:r>
              <a:rPr lang="en-US" sz="1800" b="0" strike="noStrike" spc="-1" dirty="0">
                <a:solidFill>
                  <a:schemeClr val="lt1"/>
                </a:solidFill>
                <a:latin typeface="Calibri"/>
              </a:rPr>
              <a:t>Problem Statement – How can colleges identify gradual declines in student well-being early, without compromising student privacy, and connect students to appropriate support before the situation worsens?</a:t>
            </a:r>
            <a:endParaRPr lang="en-IN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246120" y="320040"/>
            <a:ext cx="749772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97">
                <a:solidFill>
                  <a:schemeClr val="dk2"/>
                </a:solidFill>
                <a:latin typeface="Cambria"/>
                <a:ea typeface="Cambria"/>
              </a:rPr>
              <a:t>DOMAIN PROBLEM IN OUR WORDS</a:t>
            </a:r>
            <a:endParaRPr lang="en-IN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Team Badge"/>
          <p:cNvSpPr/>
          <p:nvPr/>
        </p:nvSpPr>
        <p:spPr>
          <a:xfrm>
            <a:off x="457200" y="320040"/>
            <a:ext cx="2605680" cy="8226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am Icon Hex"/>
          <p:cNvSpPr/>
          <p:nvPr/>
        </p:nvSpPr>
        <p:spPr>
          <a:xfrm>
            <a:off x="603360" y="457200"/>
            <a:ext cx="630720" cy="54828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" name="Team Icon" descr="Team icon"/>
          <p:cNvPicPr/>
          <p:nvPr/>
        </p:nvPicPr>
        <p:blipFill>
          <a:blip r:embed="rId3"/>
          <a:stretch/>
        </p:blipFill>
        <p:spPr>
          <a:xfrm>
            <a:off x="736200" y="5486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7" name="Team Name"/>
          <p:cNvSpPr/>
          <p:nvPr/>
        </p:nvSpPr>
        <p:spPr>
          <a:xfrm>
            <a:off x="1371600" y="384120"/>
            <a:ext cx="16272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299" dirty="0">
                <a:solidFill>
                  <a:schemeClr val="accent5"/>
                </a:solidFill>
                <a:latin typeface="Calibri"/>
              </a:rPr>
              <a:t>TEAM</a:t>
            </a:r>
            <a:endParaRPr lang="en-IN" sz="9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 dirty="0" err="1">
                <a:solidFill>
                  <a:schemeClr val="accent1"/>
                </a:solidFill>
                <a:latin typeface="Calibri"/>
              </a:rPr>
              <a:t>FixedHacks</a:t>
            </a:r>
            <a:endParaRPr lang="en-IN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Lead Icon Hex"/>
          <p:cNvSpPr/>
          <p:nvPr/>
        </p:nvSpPr>
        <p:spPr>
          <a:xfrm>
            <a:off x="548640" y="1463040"/>
            <a:ext cx="456840" cy="3956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Lead Icon" descr="Lightbulb icon"/>
          <p:cNvPicPr/>
          <p:nvPr/>
        </p:nvPicPr>
        <p:blipFill>
          <a:blip r:embed="rId4"/>
          <a:stretch/>
        </p:blipFill>
        <p:spPr>
          <a:xfrm>
            <a:off x="640080" y="1523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0" name="Lead Text"/>
          <p:cNvSpPr/>
          <p:nvPr/>
        </p:nvSpPr>
        <p:spPr>
          <a:xfrm>
            <a:off x="1170360" y="141732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accent2"/>
                </a:solidFill>
                <a:latin typeface="Calibri"/>
              </a:rPr>
              <a:t>Explain the problem in your domain simply, in your own words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rompts"/>
          <p:cNvSpPr/>
          <p:nvPr/>
        </p:nvSpPr>
        <p:spPr>
          <a:xfrm>
            <a:off x="868680" y="2148839"/>
            <a:ext cx="10423800" cy="28959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79360" indent="-279360" defTabSz="914400">
              <a:lnSpc>
                <a:spcPct val="100000"/>
              </a:lnSpc>
              <a:spcAft>
                <a:spcPts val="1001"/>
              </a:spcAft>
              <a:buClr>
                <a:srgbClr val="026855"/>
              </a:buClr>
              <a:buFont typeface="Symbol" charset="2"/>
              <a:buChar char="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What exactly needs to be solved?</a:t>
            </a:r>
            <a:br>
              <a:rPr sz="2000" dirty="0"/>
            </a:b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Students can slowly fall into a pattern of academic stress, poor sleep, and social isolation without anyone noticing. Many students are also unlikely to ask for help when they are struggling. Colleges need a way to identify when a student's well-being is declining early, while respecting their privacy and connecting them to the support they need.</a:t>
            </a: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00000"/>
              </a:lnSpc>
              <a:spcAft>
                <a:spcPts val="1001"/>
              </a:spcAft>
              <a:buClr>
                <a:srgbClr val="026855"/>
              </a:buClr>
              <a:buFont typeface="Symbol" charset="2"/>
              <a:buChar char="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Why is it important right now?</a:t>
            </a:r>
            <a:br>
              <a:rPr sz="2000" dirty="0"/>
            </a:b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Academic pressure and changing lifestyles can negatively affect students' sleep, stress levels, social connections, and overall well-being. Early intervention can prevent a downward spiral from going unnoticed. However, current support systems often rely on students recognizing that they are struggling and reaching out for help themselves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</a:rPr>
              <a:t>.</a:t>
            </a:r>
            <a:endParaRPr lang="en-IN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259000" y="6409800"/>
            <a:ext cx="45684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100" b="1" strike="noStrike" spc="-1">
                <a:solidFill>
                  <a:schemeClr val="dk2"/>
                </a:solidFill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468CF9E-6DFD-4069-A02C-4F55C9097C4B}" type="slidenum">
              <a:rPr lang="en-US" sz="1100" b="1" strike="noStrike" spc="-1">
                <a:solidFill>
                  <a:schemeClr val="dk2"/>
                </a:solidFill>
                <a:latin typeface="Calibri"/>
                <a:ea typeface="Calibri"/>
              </a:rPr>
              <a:t>2</a:t>
            </a:fld>
            <a:endParaRPr lang="en-IN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246120" y="320040"/>
            <a:ext cx="749772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97" dirty="0">
                <a:solidFill>
                  <a:schemeClr val="dk2"/>
                </a:solidFill>
                <a:latin typeface="Cambria"/>
                <a:ea typeface="Cambria"/>
              </a:rPr>
              <a:t>WHO IS AFFECTED?</a:t>
            </a:r>
            <a:endParaRPr lang="en-IN" sz="2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Team Badge"/>
          <p:cNvSpPr/>
          <p:nvPr/>
        </p:nvSpPr>
        <p:spPr>
          <a:xfrm>
            <a:off x="457200" y="320040"/>
            <a:ext cx="2605680" cy="8226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am Icon Hex"/>
          <p:cNvSpPr/>
          <p:nvPr/>
        </p:nvSpPr>
        <p:spPr>
          <a:xfrm>
            <a:off x="603360" y="457200"/>
            <a:ext cx="630720" cy="54828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Team Icon" descr="Team icon"/>
          <p:cNvPicPr/>
          <p:nvPr/>
        </p:nvPicPr>
        <p:blipFill>
          <a:blip r:embed="rId3"/>
          <a:stretch/>
        </p:blipFill>
        <p:spPr>
          <a:xfrm>
            <a:off x="736200" y="5486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47" name="Team Name"/>
          <p:cNvSpPr/>
          <p:nvPr/>
        </p:nvSpPr>
        <p:spPr>
          <a:xfrm>
            <a:off x="1371600" y="384120"/>
            <a:ext cx="16272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299" dirty="0">
                <a:solidFill>
                  <a:schemeClr val="accent5"/>
                </a:solidFill>
                <a:latin typeface="Calibri"/>
              </a:rPr>
              <a:t>TEAM</a:t>
            </a:r>
            <a:endParaRPr lang="en-IN" sz="9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pc="-1" dirty="0" err="1">
                <a:solidFill>
                  <a:schemeClr val="accent1"/>
                </a:solidFill>
                <a:latin typeface="Calibri"/>
              </a:rPr>
              <a:t>FixedHacks</a:t>
            </a:r>
            <a:endParaRPr lang="en-IN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Lead Icon Hex"/>
          <p:cNvSpPr/>
          <p:nvPr/>
        </p:nvSpPr>
        <p:spPr>
          <a:xfrm>
            <a:off x="548640" y="1463040"/>
            <a:ext cx="456840" cy="3956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Lead Icon" descr="Lightbulb icon"/>
          <p:cNvPicPr/>
          <p:nvPr/>
        </p:nvPicPr>
        <p:blipFill>
          <a:blip r:embed="rId4"/>
          <a:stretch/>
        </p:blipFill>
        <p:spPr>
          <a:xfrm>
            <a:off x="640080" y="1523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0" name="Lead Text"/>
          <p:cNvSpPr/>
          <p:nvPr/>
        </p:nvSpPr>
        <p:spPr>
          <a:xfrm>
            <a:off x="1170360" y="141732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accent2"/>
                </a:solidFill>
                <a:latin typeface="Calibri"/>
              </a:rPr>
              <a:t>Target users, stakeholders, beneficiaries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rimary users card"/>
          <p:cNvSpPr/>
          <p:nvPr/>
        </p:nvSpPr>
        <p:spPr>
          <a:xfrm>
            <a:off x="548640" y="2148840"/>
            <a:ext cx="3454200" cy="375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i="0" dirty="0">
                <a:solidFill>
                  <a:schemeClr val="accent1"/>
                </a:solidFill>
                <a:latin typeface="Calibri"/>
              </a:rPr>
              <a:t>Primary users: students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All UG and PG students, especially first-years adjusting to campus life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Hostel residents living away from home for the first time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Final-years under placement and exam pressure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"Quiet strugglers" who never walk into a counselling centre</a:t>
            </a:r>
          </a:p>
        </p:txBody>
      </p:sp>
      <p:sp>
        <p:nvSpPr>
          <p:cNvPr id="302" name="Secondary stakeholders card"/>
          <p:cNvSpPr/>
          <p:nvPr/>
        </p:nvSpPr>
        <p:spPr>
          <a:xfrm>
            <a:off x="4368600" y="2148840"/>
            <a:ext cx="3454200" cy="375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i="0" dirty="0">
                <a:solidFill>
                  <a:schemeClr val="accent1"/>
                </a:solidFill>
                <a:latin typeface="Calibri"/>
              </a:rPr>
              <a:t>Secondary stakeholders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Counsellors and wellness cell: small teams, mostly reactive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Mentors, faculty advisors and wardens: see signs but lack a safe channel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Parents and peers: first to notice, unsure how to act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College administration: accountable for student safety</a:t>
            </a:r>
          </a:p>
        </p:txBody>
      </p:sp>
      <p:sp>
        <p:nvSpPr>
          <p:cNvPr id="303" name="Beneficiaries card"/>
          <p:cNvSpPr/>
          <p:nvPr/>
        </p:nvSpPr>
        <p:spPr>
          <a:xfrm>
            <a:off x="8188560" y="2148840"/>
            <a:ext cx="3454200" cy="375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i="0" dirty="0">
                <a:solidFill>
                  <a:schemeClr val="accent1"/>
                </a:solidFill>
                <a:latin typeface="Calibri"/>
              </a:rPr>
              <a:t>Who benefits if it is solved?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Students: earlier help, with control over their own data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Counsellors: time goes to those who need it most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Colleges: fewer crises, better retention, data-led wellness planning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Families and society: fewer preventable tragedies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sldNum" idx="6"/>
          </p:nvPr>
        </p:nvSpPr>
        <p:spPr>
          <a:xfrm>
            <a:off x="11259000" y="6409800"/>
            <a:ext cx="45684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100" b="1" strike="noStrike" spc="-1">
                <a:solidFill>
                  <a:schemeClr val="dk2"/>
                </a:solidFill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FFEF93F-FBB9-40A1-9BF2-EEEE20EF2358}" type="slidenum">
              <a:rPr lang="en-US" sz="1100" b="1" strike="noStrike" spc="-1">
                <a:solidFill>
                  <a:schemeClr val="dk2"/>
                </a:solidFill>
                <a:latin typeface="Calibri"/>
                <a:ea typeface="Calibri"/>
              </a:rPr>
              <a:t>3</a:t>
            </a:fld>
            <a:endParaRPr lang="en-IN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246120" y="320040"/>
            <a:ext cx="749772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97">
                <a:solidFill>
                  <a:schemeClr val="dk2"/>
                </a:solidFill>
                <a:latin typeface="Cambria"/>
                <a:ea typeface="Cambria"/>
              </a:rPr>
              <a:t>CURRENT SITUATION &amp; CONTEXT</a:t>
            </a:r>
            <a:endParaRPr lang="en-IN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Team Badge"/>
          <p:cNvSpPr/>
          <p:nvPr/>
        </p:nvSpPr>
        <p:spPr>
          <a:xfrm>
            <a:off x="457200" y="320040"/>
            <a:ext cx="2605680" cy="8226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am Icon Hex"/>
          <p:cNvSpPr/>
          <p:nvPr/>
        </p:nvSpPr>
        <p:spPr>
          <a:xfrm>
            <a:off x="603360" y="457200"/>
            <a:ext cx="630720" cy="54828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Team Icon" descr="Team icon"/>
          <p:cNvPicPr/>
          <p:nvPr/>
        </p:nvPicPr>
        <p:blipFill>
          <a:blip r:embed="rId3"/>
          <a:stretch/>
        </p:blipFill>
        <p:spPr>
          <a:xfrm>
            <a:off x="736200" y="5486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57" name="Team Name"/>
          <p:cNvSpPr/>
          <p:nvPr/>
        </p:nvSpPr>
        <p:spPr>
          <a:xfrm>
            <a:off x="1371600" y="384120"/>
            <a:ext cx="16272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299">
                <a:solidFill>
                  <a:schemeClr val="accent5"/>
                </a:solidFill>
                <a:latin typeface="Calibri"/>
              </a:rPr>
              <a:t>TEAM</a:t>
            </a:r>
            <a:endParaRPr lang="en-IN" sz="9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chemeClr val="accent1"/>
                </a:solidFill>
                <a:latin typeface="Calibri"/>
              </a:rPr>
              <a:t>FixedHacks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Lead Icon Hex"/>
          <p:cNvSpPr/>
          <p:nvPr/>
        </p:nvSpPr>
        <p:spPr>
          <a:xfrm>
            <a:off x="548640" y="1463040"/>
            <a:ext cx="456840" cy="3956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Lead Icon" descr="Lightbulb icon"/>
          <p:cNvPicPr/>
          <p:nvPr/>
        </p:nvPicPr>
        <p:blipFill>
          <a:blip r:embed="rId4"/>
          <a:stretch/>
        </p:blipFill>
        <p:spPr>
          <a:xfrm>
            <a:off x="640080" y="1523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60" name="Lead Text"/>
          <p:cNvSpPr/>
          <p:nvPr/>
        </p:nvSpPr>
        <p:spPr>
          <a:xfrm>
            <a:off x="1170360" y="141732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accent2"/>
                </a:solidFill>
                <a:latin typeface="Calibri"/>
              </a:rPr>
              <a:t>Existing scenario, background and how things work today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cenario card"/>
          <p:cNvSpPr/>
          <p:nvPr/>
        </p:nvSpPr>
        <p:spPr>
          <a:xfrm>
            <a:off x="548640" y="2148840"/>
            <a:ext cx="5364180" cy="210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 b="1" i="0" dirty="0">
                <a:solidFill>
                  <a:schemeClr val="accent1"/>
                </a:solidFill>
                <a:latin typeface="Calibri"/>
              </a:rPr>
              <a:t>Existing scenario and background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Support depends on a counselling centre that students must approach on their own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Early signs (poor sleep, skipped classes, withdrawal) are scattered and never seen together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Mentors and wardens act on personal judgement, usually after grades drop</a:t>
            </a:r>
          </a:p>
        </p:txBody>
      </p:sp>
      <p:sp>
        <p:nvSpPr>
          <p:cNvPr id="305" name="Facts card"/>
          <p:cNvSpPr/>
          <p:nvPr/>
        </p:nvSpPr>
        <p:spPr>
          <a:xfrm>
            <a:off x="6278580" y="2148840"/>
            <a:ext cx="5364180" cy="210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 b="1" i="0" dirty="0">
                <a:solidFill>
                  <a:schemeClr val="accent1"/>
                </a:solidFill>
                <a:latin typeface="Calibri"/>
              </a:rPr>
              <a:t>Relevant data and facts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About 75% of lifetime mental health conditions begin by age 24, the college years (Kessler et al., 2005)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India records 13,000+ student suicides a year (NCRB data)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India's National Mental Health Survey (2015-16) found a 70-92% treatment gap across disorders</a:t>
            </a:r>
          </a:p>
        </p:txBody>
      </p:sp>
      <p:sp>
        <p:nvSpPr>
          <p:cNvPr id="306" name="Workflow label"/>
          <p:cNvSpPr/>
          <p:nvPr/>
        </p:nvSpPr>
        <p:spPr>
          <a:xfrm>
            <a:off x="548640" y="4338840"/>
            <a:ext cx="110941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chemeClr val="accent1"/>
                </a:solidFill>
                <a:latin typeface="Calibri"/>
              </a:rPr>
              <a:t>Today's workflow, step by step</a:t>
            </a:r>
          </a:p>
        </p:txBody>
      </p:sp>
      <p:sp>
        <p:nvSpPr>
          <p:cNvPr id="307" name="Workflow step 1"/>
          <p:cNvSpPr/>
          <p:nvPr/>
        </p:nvSpPr>
        <p:spPr>
          <a:xfrm>
            <a:off x="548640" y="4698840"/>
            <a:ext cx="1999368" cy="12500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109728" tIns="91440" rIns="109728" bIns="73152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1. Stress builds quietly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Poor sleep, workload and isolation creep up over weeks</a:t>
            </a:r>
          </a:p>
        </p:txBody>
      </p:sp>
      <p:sp>
        <p:nvSpPr>
          <p:cNvPr id="308" name="Arrow"/>
          <p:cNvSpPr/>
          <p:nvPr/>
        </p:nvSpPr>
        <p:spPr>
          <a:xfrm>
            <a:off x="2593728" y="5186680"/>
            <a:ext cx="18288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137160" tIns="109728" rIns="137160" bIns="91440" anchor="t">
            <a:noAutofit/>
          </a:bodyPr>
          <a:lstStyle/>
          <a:p>
            <a:endParaRPr lang="en-US" sz="1400"/>
          </a:p>
        </p:txBody>
      </p:sp>
      <p:sp>
        <p:nvSpPr>
          <p:cNvPr id="309" name="Workflow step 2"/>
          <p:cNvSpPr/>
          <p:nvPr/>
        </p:nvSpPr>
        <p:spPr>
          <a:xfrm>
            <a:off x="2822328" y="4698840"/>
            <a:ext cx="1999368" cy="12500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109728" tIns="91440" rIns="109728" bIns="73152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2. Student stays silent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Stigma and self-doubt: "it is not serious enough"</a:t>
            </a:r>
          </a:p>
        </p:txBody>
      </p:sp>
      <p:sp>
        <p:nvSpPr>
          <p:cNvPr id="310" name="Arrow"/>
          <p:cNvSpPr/>
          <p:nvPr/>
        </p:nvSpPr>
        <p:spPr>
          <a:xfrm>
            <a:off x="4867416" y="5186680"/>
            <a:ext cx="18288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137160" tIns="109728" rIns="137160" bIns="91440" anchor="t">
            <a:noAutofit/>
          </a:bodyPr>
          <a:lstStyle/>
          <a:p>
            <a:endParaRPr lang="en-US" sz="1400"/>
          </a:p>
        </p:txBody>
      </p:sp>
      <p:sp>
        <p:nvSpPr>
          <p:cNvPr id="311" name="Workflow step 3"/>
          <p:cNvSpPr/>
          <p:nvPr/>
        </p:nvSpPr>
        <p:spPr>
          <a:xfrm>
            <a:off x="5096016" y="4698840"/>
            <a:ext cx="1999368" cy="12500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109728" tIns="91440" rIns="109728" bIns="73152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3. Others notice late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Friends or faculty see it after missed exams or classes</a:t>
            </a:r>
          </a:p>
        </p:txBody>
      </p:sp>
      <p:sp>
        <p:nvSpPr>
          <p:cNvPr id="312" name="Arrow"/>
          <p:cNvSpPr/>
          <p:nvPr/>
        </p:nvSpPr>
        <p:spPr>
          <a:xfrm>
            <a:off x="7141104" y="5186680"/>
            <a:ext cx="18288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137160" tIns="109728" rIns="137160" bIns="91440" anchor="t">
            <a:noAutofit/>
          </a:bodyPr>
          <a:lstStyle/>
          <a:p>
            <a:endParaRPr lang="en-US" sz="1400"/>
          </a:p>
        </p:txBody>
      </p:sp>
      <p:sp>
        <p:nvSpPr>
          <p:cNvPr id="313" name="Workflow step 4"/>
          <p:cNvSpPr/>
          <p:nvPr/>
        </p:nvSpPr>
        <p:spPr>
          <a:xfrm>
            <a:off x="7369704" y="4698840"/>
            <a:ext cx="1999368" cy="12500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109728" tIns="91440" rIns="109728" bIns="73152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4. Ad-hoc referral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Walk-in or mentor referral to the wellness cell</a:t>
            </a:r>
          </a:p>
        </p:txBody>
      </p:sp>
      <p:sp>
        <p:nvSpPr>
          <p:cNvPr id="314" name="Arrow"/>
          <p:cNvSpPr/>
          <p:nvPr/>
        </p:nvSpPr>
        <p:spPr>
          <a:xfrm>
            <a:off x="9414792" y="5186680"/>
            <a:ext cx="18288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137160" tIns="109728" rIns="137160" bIns="91440" anchor="t">
            <a:noAutofit/>
          </a:bodyPr>
          <a:lstStyle/>
          <a:p>
            <a:endParaRPr lang="en-US" sz="1400"/>
          </a:p>
        </p:txBody>
      </p:sp>
      <p:sp>
        <p:nvSpPr>
          <p:cNvPr id="315" name="Workflow step 5"/>
          <p:cNvSpPr/>
          <p:nvPr/>
        </p:nvSpPr>
        <p:spPr>
          <a:xfrm>
            <a:off x="9643392" y="4698840"/>
            <a:ext cx="1999368" cy="12500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109728" tIns="91440" rIns="109728" bIns="73152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5. Help arrives late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Support starts after the situation has escalated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sldNum" idx="7"/>
          </p:nvPr>
        </p:nvSpPr>
        <p:spPr>
          <a:xfrm>
            <a:off x="11259000" y="6409800"/>
            <a:ext cx="45684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100" b="1" strike="noStrike" spc="-1">
                <a:solidFill>
                  <a:schemeClr val="dk2"/>
                </a:solidFill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411CB8C8-46C0-4BBE-8300-6BB32264FC65}" type="slidenum">
              <a:rPr lang="en-US" sz="1100" b="1" strike="noStrike" spc="-1">
                <a:solidFill>
                  <a:schemeClr val="dk2"/>
                </a:solidFill>
                <a:latin typeface="Calibri"/>
                <a:ea typeface="Calibri"/>
              </a:rPr>
              <a:t>4</a:t>
            </a:fld>
            <a:endParaRPr lang="en-IN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246120" y="320040"/>
            <a:ext cx="749772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97">
                <a:solidFill>
                  <a:schemeClr val="dk2"/>
                </a:solidFill>
                <a:latin typeface="Cambria"/>
                <a:ea typeface="Cambria"/>
              </a:rPr>
              <a:t>KEY CHALLENGES</a:t>
            </a:r>
            <a:endParaRPr lang="en-IN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Team Badge"/>
          <p:cNvSpPr/>
          <p:nvPr/>
        </p:nvSpPr>
        <p:spPr>
          <a:xfrm>
            <a:off x="457200" y="320040"/>
            <a:ext cx="2605680" cy="8226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am Icon Hex"/>
          <p:cNvSpPr/>
          <p:nvPr/>
        </p:nvSpPr>
        <p:spPr>
          <a:xfrm>
            <a:off x="603360" y="457200"/>
            <a:ext cx="630720" cy="54828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Team Icon" descr="Team icon"/>
          <p:cNvPicPr/>
          <p:nvPr/>
        </p:nvPicPr>
        <p:blipFill>
          <a:blip r:embed="rId3"/>
          <a:stretch/>
        </p:blipFill>
        <p:spPr>
          <a:xfrm>
            <a:off x="736200" y="5486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67" name="Team Name"/>
          <p:cNvSpPr/>
          <p:nvPr/>
        </p:nvSpPr>
        <p:spPr>
          <a:xfrm>
            <a:off x="1371600" y="384120"/>
            <a:ext cx="16272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299">
                <a:solidFill>
                  <a:schemeClr val="accent5"/>
                </a:solidFill>
                <a:latin typeface="Calibri"/>
              </a:rPr>
              <a:t>TEAM</a:t>
            </a:r>
            <a:endParaRPr lang="en-IN" sz="9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chemeClr val="accent1"/>
                </a:solidFill>
                <a:latin typeface="Calibri"/>
              </a:rPr>
              <a:t>FixedHacks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Lead Icon Hex"/>
          <p:cNvSpPr/>
          <p:nvPr/>
        </p:nvSpPr>
        <p:spPr>
          <a:xfrm>
            <a:off x="548640" y="1463040"/>
            <a:ext cx="456840" cy="3956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Lead Icon" descr="Lightbulb icon"/>
          <p:cNvPicPr/>
          <p:nvPr/>
        </p:nvPicPr>
        <p:blipFill>
          <a:blip r:embed="rId4"/>
          <a:stretch/>
        </p:blipFill>
        <p:spPr>
          <a:xfrm>
            <a:off x="640080" y="1523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70" name="Lead Text"/>
          <p:cNvSpPr/>
          <p:nvPr/>
        </p:nvSpPr>
        <p:spPr>
          <a:xfrm>
            <a:off x="1170360" y="141732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accent2"/>
                </a:solidFill>
                <a:latin typeface="Calibri"/>
              </a:rPr>
              <a:t>Main difficulties, bottlenecks, root causes and consequences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Bottlenecks card"/>
          <p:cNvSpPr/>
          <p:nvPr/>
        </p:nvSpPr>
        <p:spPr>
          <a:xfrm>
            <a:off x="548640" y="2148840"/>
            <a:ext cx="3454200" cy="375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i="0" dirty="0">
                <a:solidFill>
                  <a:schemeClr val="accent1"/>
                </a:solidFill>
                <a:latin typeface="Calibri"/>
              </a:rPr>
              <a:t>Difficulties and bottlenecks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Students rarely self-report: stigma, fear of being judged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Decline is gradual, with no single moment that triggers help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Signals are fragmented across sleep, academics and social life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Anything that feels like surveillance is rejected</a:t>
            </a:r>
          </a:p>
        </p:txBody>
      </p:sp>
      <p:sp>
        <p:nvSpPr>
          <p:cNvPr id="317" name="Root causes card"/>
          <p:cNvSpPr/>
          <p:nvPr/>
        </p:nvSpPr>
        <p:spPr>
          <a:xfrm>
            <a:off x="4368600" y="2148840"/>
            <a:ext cx="3454200" cy="375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i="0" dirty="0">
                <a:solidFill>
                  <a:schemeClr val="accent1"/>
                </a:solidFill>
                <a:latin typeface="Calibri"/>
              </a:rPr>
              <a:t>Root causes behind them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Support model is reactive: "come to us when you need help"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No personal baseline, so a bad week looks the same as a slide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No consent-based way to turn signals into support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Few counsellors and no triage by risk or trend</a:t>
            </a:r>
          </a:p>
        </p:txBody>
      </p:sp>
      <p:sp>
        <p:nvSpPr>
          <p:cNvPr id="318" name="Consequences card"/>
          <p:cNvSpPr/>
          <p:nvPr/>
        </p:nvSpPr>
        <p:spPr>
          <a:xfrm>
            <a:off x="8188560" y="2148840"/>
            <a:ext cx="3454200" cy="375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i="0" dirty="0">
                <a:solidFill>
                  <a:schemeClr val="accent1"/>
                </a:solidFill>
                <a:latin typeface="Calibri"/>
              </a:rPr>
              <a:t>If left unsolved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Problems surface only at crisis: dropouts, failures, self-harm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Students suffer longer and recovery gets harder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Counsellor’s firefight instead of prevent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Trust in the college erodes; legal and reputational risk grows</a:t>
            </a:r>
          </a:p>
        </p:txBody>
      </p:sp>
      <p:sp>
        <p:nvSpPr>
          <p:cNvPr id="319" name="Arrow"/>
          <p:cNvSpPr/>
          <p:nvPr/>
        </p:nvSpPr>
        <p:spPr>
          <a:xfrm>
            <a:off x="4071420" y="3886680"/>
            <a:ext cx="22860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137160" tIns="109728" rIns="137160" bIns="91440" anchor="t">
            <a:noAutofit/>
          </a:bodyPr>
          <a:lstStyle/>
          <a:p>
            <a:endParaRPr lang="en-US" sz="1400"/>
          </a:p>
        </p:txBody>
      </p:sp>
      <p:sp>
        <p:nvSpPr>
          <p:cNvPr id="320" name="Arrow"/>
          <p:cNvSpPr/>
          <p:nvPr/>
        </p:nvSpPr>
        <p:spPr>
          <a:xfrm>
            <a:off x="7891380" y="3886680"/>
            <a:ext cx="22860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137160" tIns="109728" rIns="137160" bIns="91440" anchor="t">
            <a:noAutofit/>
          </a:bodyPr>
          <a:lstStyle/>
          <a:p>
            <a:endParaRPr lang="en-US" sz="1400"/>
          </a:p>
        </p:txBody>
      </p:sp>
      <p:sp>
        <p:nvSpPr>
          <p:cNvPr id="72" name="PlaceHolder 2"/>
          <p:cNvSpPr>
            <a:spLocks noGrp="1"/>
          </p:cNvSpPr>
          <p:nvPr>
            <p:ph type="sldNum" idx="8"/>
          </p:nvPr>
        </p:nvSpPr>
        <p:spPr>
          <a:xfrm>
            <a:off x="11259000" y="6409800"/>
            <a:ext cx="45684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100" b="1" strike="noStrike" spc="-1">
                <a:solidFill>
                  <a:schemeClr val="dk2"/>
                </a:solidFill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11B97AF4-C7E9-4019-B05D-0B8939C5D99B}" type="slidenum">
              <a:rPr lang="en-US" sz="1100" b="1" strike="noStrike" spc="-1">
                <a:solidFill>
                  <a:schemeClr val="dk2"/>
                </a:solidFill>
                <a:latin typeface="Calibri"/>
                <a:ea typeface="Calibri"/>
              </a:rPr>
              <a:t>5</a:t>
            </a:fld>
            <a:endParaRPr lang="en-IN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246120" y="320040"/>
            <a:ext cx="749772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97">
                <a:solidFill>
                  <a:schemeClr val="dk2"/>
                </a:solidFill>
                <a:latin typeface="Cambria"/>
                <a:ea typeface="Cambria"/>
              </a:rPr>
              <a:t>EXISTING SOLUTIONS / APPROACHES</a:t>
            </a:r>
            <a:endParaRPr lang="en-IN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Team Badge"/>
          <p:cNvSpPr/>
          <p:nvPr/>
        </p:nvSpPr>
        <p:spPr>
          <a:xfrm>
            <a:off x="457200" y="320040"/>
            <a:ext cx="2605680" cy="8226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am Icon Hex"/>
          <p:cNvSpPr/>
          <p:nvPr/>
        </p:nvSpPr>
        <p:spPr>
          <a:xfrm>
            <a:off x="603360" y="457200"/>
            <a:ext cx="630720" cy="54828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Team Icon" descr="Team icon"/>
          <p:cNvPicPr/>
          <p:nvPr/>
        </p:nvPicPr>
        <p:blipFill>
          <a:blip r:embed="rId3"/>
          <a:stretch/>
        </p:blipFill>
        <p:spPr>
          <a:xfrm>
            <a:off x="736200" y="5486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77" name="Team Name"/>
          <p:cNvSpPr/>
          <p:nvPr/>
        </p:nvSpPr>
        <p:spPr>
          <a:xfrm>
            <a:off x="1371600" y="384120"/>
            <a:ext cx="16272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299">
                <a:solidFill>
                  <a:schemeClr val="accent5"/>
                </a:solidFill>
                <a:latin typeface="Calibri"/>
              </a:rPr>
              <a:t>TEAM</a:t>
            </a:r>
            <a:endParaRPr lang="en-IN" sz="9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chemeClr val="accent1"/>
                </a:solidFill>
                <a:latin typeface="Calibri"/>
              </a:rPr>
              <a:t>FixedHacks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Lead Icon Hex"/>
          <p:cNvSpPr/>
          <p:nvPr/>
        </p:nvSpPr>
        <p:spPr>
          <a:xfrm>
            <a:off x="548640" y="1463040"/>
            <a:ext cx="456840" cy="3956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Lead Icon" descr="Lightbulb icon"/>
          <p:cNvPicPr/>
          <p:nvPr/>
        </p:nvPicPr>
        <p:blipFill>
          <a:blip r:embed="rId4"/>
          <a:stretch/>
        </p:blipFill>
        <p:spPr>
          <a:xfrm>
            <a:off x="640080" y="1523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80" name="Lead Text"/>
          <p:cNvSpPr/>
          <p:nvPr/>
        </p:nvSpPr>
        <p:spPr>
          <a:xfrm>
            <a:off x="1170360" y="141732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accent2"/>
                </a:solidFill>
                <a:latin typeface="Calibri"/>
              </a:rPr>
              <a:t>What is already being done, and where it falls short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21" name="Existing solutions table"/>
          <p:cNvGraphicFramePr/>
          <p:nvPr/>
        </p:nvGraphicFramePr>
        <p:xfrm>
          <a:off x="548640" y="2148840"/>
          <a:ext cx="11094120" cy="3350000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4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Existing approach</a:t>
                      </a:r>
                    </a:p>
                  </a:txBody>
                  <a:tcPr marL="137160" marR="137160" anchor="ctr">
                    <a:lnL w="9360">
                      <a:solidFill>
                        <a:srgbClr val="D3E6DD"/>
                      </a:solidFill>
                      <a:prstDash val="solid"/>
                    </a:lnL>
                    <a:lnR w="9360">
                      <a:solidFill>
                        <a:srgbClr val="D3E6DD"/>
                      </a:solidFill>
                      <a:prstDash val="solid"/>
                    </a:lnR>
                    <a:lnT w="9360">
                      <a:solidFill>
                        <a:srgbClr val="D3E6DD"/>
                      </a:solidFill>
                      <a:prstDash val="solid"/>
                    </a:lnT>
                    <a:lnB w="9360">
                      <a:solidFill>
                        <a:srgbClr val="D3E6DD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Where it falls short</a:t>
                      </a:r>
                    </a:p>
                  </a:txBody>
                  <a:tcPr marL="137160" marR="137160" anchor="ctr">
                    <a:lnL w="9360">
                      <a:solidFill>
                        <a:srgbClr val="D3E6DD"/>
                      </a:solidFill>
                      <a:prstDash val="solid"/>
                    </a:lnL>
                    <a:lnR w="9360">
                      <a:solidFill>
                        <a:srgbClr val="D3E6DD"/>
                      </a:solidFill>
                      <a:prstDash val="solid"/>
                    </a:lnR>
                    <a:lnT w="9360">
                      <a:solidFill>
                        <a:srgbClr val="D3E6DD"/>
                      </a:solidFill>
                      <a:prstDash val="solid"/>
                    </a:lnT>
                    <a:lnB w="9360">
                      <a:solidFill>
                        <a:srgbClr val="D3E6DD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Campus counselling centre</a:t>
                      </a:r>
                    </a:p>
                  </a:txBody>
                  <a:tcPr marL="137160" marR="137160" anchor="ctr">
                    <a:lnL w="9360">
                      <a:solidFill>
                        <a:srgbClr val="D3E6DD"/>
                      </a:solidFill>
                      <a:prstDash val="solid"/>
                    </a:lnL>
                    <a:lnR w="9360">
                      <a:solidFill>
                        <a:srgbClr val="D3E6DD"/>
                      </a:solidFill>
                      <a:prstDash val="solid"/>
                    </a:lnR>
                    <a:lnT w="9360">
                      <a:solidFill>
                        <a:srgbClr val="D3E6DD"/>
                      </a:solidFill>
                      <a:prstDash val="solid"/>
                    </a:lnT>
                    <a:lnB w="9360">
                      <a:solidFill>
                        <a:srgbClr val="D3E6DD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dirty="0">
                          <a:solidFill>
                            <a:schemeClr val="accent5"/>
                          </a:solidFill>
                          <a:latin typeface="Calibri"/>
                          <a:ea typeface="Calibri"/>
                        </a:rPr>
                        <a:t>Walk-in or appointment based; relies on the student asking; stigma limits use</a:t>
                      </a:r>
                    </a:p>
                  </a:txBody>
                  <a:tcPr marL="137160" marR="137160" anchor="ctr">
                    <a:lnL w="9360">
                      <a:solidFill>
                        <a:srgbClr val="D3E6DD"/>
                      </a:solidFill>
                      <a:prstDash val="solid"/>
                    </a:lnL>
                    <a:lnR w="9360">
                      <a:solidFill>
                        <a:srgbClr val="D3E6DD"/>
                      </a:solidFill>
                      <a:prstDash val="solid"/>
                    </a:lnR>
                    <a:lnT w="9360">
                      <a:solidFill>
                        <a:srgbClr val="D3E6DD"/>
                      </a:solidFill>
                      <a:prstDash val="solid"/>
                    </a:lnT>
                    <a:lnB w="9360">
                      <a:solidFill>
                        <a:srgbClr val="D3E6DD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Faculty mentors and hostel wardens</a:t>
                      </a:r>
                    </a:p>
                  </a:txBody>
                  <a:tcPr marL="137160" marR="137160" anchor="ctr">
                    <a:lnL w="9360">
                      <a:solidFill>
                        <a:srgbClr val="D3E6DD"/>
                      </a:solidFill>
                      <a:prstDash val="solid"/>
                    </a:lnL>
                    <a:lnR w="9360">
                      <a:solidFill>
                        <a:srgbClr val="D3E6DD"/>
                      </a:solidFill>
                      <a:prstDash val="solid"/>
                    </a:lnR>
                    <a:lnT w="9360">
                      <a:solidFill>
                        <a:srgbClr val="D3E6DD"/>
                      </a:solidFill>
                      <a:prstDash val="solid"/>
                    </a:lnT>
                    <a:lnB w="9360">
                      <a:solidFill>
                        <a:srgbClr val="D3E6DD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dirty="0">
                          <a:solidFill>
                            <a:schemeClr val="accent5"/>
                          </a:solidFill>
                          <a:latin typeface="Calibri"/>
                          <a:ea typeface="Calibri"/>
                        </a:rPr>
                        <a:t>Informal and subjective; notice late; no tools or training to triage</a:t>
                      </a:r>
                    </a:p>
                  </a:txBody>
                  <a:tcPr marL="137160" marR="137160" anchor="ctr">
                    <a:lnL w="9360">
                      <a:solidFill>
                        <a:srgbClr val="D3E6DD"/>
                      </a:solidFill>
                      <a:prstDash val="solid"/>
                    </a:lnL>
                    <a:lnR w="9360">
                      <a:solidFill>
                        <a:srgbClr val="D3E6DD"/>
                      </a:solidFill>
                      <a:prstDash val="solid"/>
                    </a:lnR>
                    <a:lnT w="9360">
                      <a:solidFill>
                        <a:srgbClr val="D3E6DD"/>
                      </a:solidFill>
                      <a:prstDash val="solid"/>
                    </a:lnT>
                    <a:lnB w="9360">
                      <a:solidFill>
                        <a:srgbClr val="D3E6DD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Helplines (Tele-MANAS 14416) and wellness apps</a:t>
                      </a:r>
                    </a:p>
                  </a:txBody>
                  <a:tcPr marL="137160" marR="137160" anchor="ctr">
                    <a:lnL w="9360">
                      <a:solidFill>
                        <a:srgbClr val="D3E6DD"/>
                      </a:solidFill>
                      <a:prstDash val="solid"/>
                    </a:lnL>
                    <a:lnR w="9360">
                      <a:solidFill>
                        <a:srgbClr val="D3E6DD"/>
                      </a:solidFill>
                      <a:prstDash val="solid"/>
                    </a:lnR>
                    <a:lnT w="9360">
                      <a:solidFill>
                        <a:srgbClr val="D3E6DD"/>
                      </a:solidFill>
                      <a:prstDash val="solid"/>
                    </a:lnT>
                    <a:lnB w="9360">
                      <a:solidFill>
                        <a:srgbClr val="D3E6DD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dirty="0">
                          <a:solidFill>
                            <a:schemeClr val="accent5"/>
                          </a:solidFill>
                          <a:latin typeface="Calibri"/>
                          <a:ea typeface="Calibri"/>
                        </a:rPr>
                        <a:t>Self-initiated and disconnected from campus support; no trend detection</a:t>
                      </a:r>
                    </a:p>
                  </a:txBody>
                  <a:tcPr marL="137160" marR="137160" anchor="ctr">
                    <a:lnL w="9360">
                      <a:solidFill>
                        <a:srgbClr val="D3E6DD"/>
                      </a:solidFill>
                      <a:prstDash val="solid"/>
                    </a:lnL>
                    <a:lnR w="9360">
                      <a:solidFill>
                        <a:srgbClr val="D3E6DD"/>
                      </a:solidFill>
                      <a:prstDash val="solid"/>
                    </a:lnR>
                    <a:lnT w="9360">
                      <a:solidFill>
                        <a:srgbClr val="D3E6DD"/>
                      </a:solidFill>
                      <a:prstDash val="solid"/>
                    </a:lnT>
                    <a:lnB w="9360">
                      <a:solidFill>
                        <a:srgbClr val="D3E6DD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Annual surveys and awareness camps</a:t>
                      </a:r>
                    </a:p>
                  </a:txBody>
                  <a:tcPr marL="137160" marR="137160" anchor="ctr">
                    <a:lnL w="9360">
                      <a:solidFill>
                        <a:srgbClr val="D3E6DD"/>
                      </a:solidFill>
                      <a:prstDash val="solid"/>
                    </a:lnL>
                    <a:lnR w="9360">
                      <a:solidFill>
                        <a:srgbClr val="D3E6DD"/>
                      </a:solidFill>
                      <a:prstDash val="solid"/>
                    </a:lnR>
                    <a:lnT w="9360">
                      <a:solidFill>
                        <a:srgbClr val="D3E6DD"/>
                      </a:solidFill>
                      <a:prstDash val="solid"/>
                    </a:lnT>
                    <a:lnB w="9360">
                      <a:solidFill>
                        <a:srgbClr val="D3E6DD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dirty="0">
                          <a:solidFill>
                            <a:schemeClr val="accent5"/>
                          </a:solidFill>
                          <a:latin typeface="Calibri"/>
                          <a:ea typeface="Calibri"/>
                        </a:rPr>
                        <a:t>One snapshot a year; aggregate only; cannot flag an individual drifting</a:t>
                      </a:r>
                    </a:p>
                  </a:txBody>
                  <a:tcPr marL="137160" marR="137160" anchor="ctr">
                    <a:lnL w="9360">
                      <a:solidFill>
                        <a:srgbClr val="D3E6DD"/>
                      </a:solidFill>
                      <a:prstDash val="solid"/>
                    </a:lnL>
                    <a:lnR w="9360">
                      <a:solidFill>
                        <a:srgbClr val="D3E6DD"/>
                      </a:solidFill>
                      <a:prstDash val="solid"/>
                    </a:lnR>
                    <a:lnT w="9360">
                      <a:solidFill>
                        <a:srgbClr val="D3E6DD"/>
                      </a:solidFill>
                      <a:prstDash val="solid"/>
                    </a:lnT>
                    <a:lnB w="9360">
                      <a:solidFill>
                        <a:srgbClr val="D3E6DD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Academic early-warning (attendance, grades)</a:t>
                      </a:r>
                    </a:p>
                  </a:txBody>
                  <a:tcPr marL="137160" marR="137160" anchor="ctr">
                    <a:lnL w="9360">
                      <a:solidFill>
                        <a:srgbClr val="D3E6DD"/>
                      </a:solidFill>
                      <a:prstDash val="solid"/>
                    </a:lnL>
                    <a:lnR w="9360">
                      <a:solidFill>
                        <a:srgbClr val="D3E6DD"/>
                      </a:solidFill>
                      <a:prstDash val="solid"/>
                    </a:lnR>
                    <a:lnT w="9360">
                      <a:solidFill>
                        <a:srgbClr val="D3E6DD"/>
                      </a:solidFill>
                      <a:prstDash val="solid"/>
                    </a:lnT>
                    <a:lnB w="9360">
                      <a:solidFill>
                        <a:srgbClr val="D3E6DD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dirty="0">
                          <a:solidFill>
                            <a:schemeClr val="accent5"/>
                          </a:solidFill>
                          <a:latin typeface="Calibri"/>
                          <a:ea typeface="Calibri"/>
                        </a:rPr>
                        <a:t>Fires only after academic damage; blind to sleep, stress and isolation</a:t>
                      </a:r>
                    </a:p>
                  </a:txBody>
                  <a:tcPr marL="137160" marR="137160" anchor="ctr">
                    <a:lnL w="9360">
                      <a:solidFill>
                        <a:srgbClr val="D3E6DD"/>
                      </a:solidFill>
                      <a:prstDash val="solid"/>
                    </a:lnL>
                    <a:lnR w="9360">
                      <a:solidFill>
                        <a:srgbClr val="D3E6DD"/>
                      </a:solidFill>
                      <a:prstDash val="solid"/>
                    </a:lnR>
                    <a:lnT w="9360">
                      <a:solidFill>
                        <a:srgbClr val="D3E6DD"/>
                      </a:solidFill>
                      <a:prstDash val="solid"/>
                    </a:lnT>
                    <a:lnB w="9360">
                      <a:solidFill>
                        <a:srgbClr val="D3E6DD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2" name="Gap strip"/>
          <p:cNvSpPr/>
          <p:nvPr/>
        </p:nvSpPr>
        <p:spPr>
          <a:xfrm>
            <a:off x="548640" y="5628840"/>
            <a:ext cx="11094120" cy="520000"/>
          </a:xfrm>
          <a:prstGeom prst="roundRect">
            <a:avLst>
              <a:gd name="adj" fmla="val 12000"/>
            </a:avLst>
          </a:prstGeom>
          <a:solidFill>
            <a:schemeClr val="dk2"/>
          </a:solidFill>
          <a:ln>
            <a:noFill/>
          </a:ln>
        </p:spPr>
        <p:txBody>
          <a:bodyPr wrap="square" lIns="182880" tIns="45720" rIns="182880" bIns="4572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chemeClr val="accent3"/>
                </a:solidFill>
                <a:latin typeface="Calibri"/>
              </a:rPr>
              <a:t>The gap:  </a:t>
            </a:r>
            <a:r>
              <a:rPr lang="en-US" sz="1400" b="0" i="0" dirty="0">
                <a:solidFill>
                  <a:srgbClr val="FFFFFF"/>
                </a:solidFill>
                <a:latin typeface="Calibri"/>
              </a:rPr>
              <a:t>nothing today is proactive, built on each student's own baseline, privacy-first, and linked to real human support.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sldNum" idx="9"/>
          </p:nvPr>
        </p:nvSpPr>
        <p:spPr>
          <a:xfrm>
            <a:off x="11259000" y="6409800"/>
            <a:ext cx="45684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100" b="1" strike="noStrike" spc="-1">
                <a:solidFill>
                  <a:schemeClr val="dk2"/>
                </a:solidFill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445B0DE-37A5-42BD-B70B-BADC4CA83F43}" type="slidenum">
              <a:rPr lang="en-US" sz="1100" b="1" strike="noStrike" spc="-1">
                <a:solidFill>
                  <a:schemeClr val="dk2"/>
                </a:solidFill>
                <a:latin typeface="Calibri"/>
                <a:ea typeface="Calibri"/>
              </a:rPr>
              <a:t>6</a:t>
            </a:fld>
            <a:endParaRPr lang="en-IN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246120" y="320040"/>
            <a:ext cx="749772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97">
                <a:solidFill>
                  <a:schemeClr val="dk2"/>
                </a:solidFill>
                <a:latin typeface="Cambria"/>
                <a:ea typeface="Cambria"/>
              </a:rPr>
              <a:t>PROBLEM INSIGHTS &amp; OPPORTUNITY AREAS</a:t>
            </a:r>
            <a:endParaRPr lang="en-IN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Team Badge"/>
          <p:cNvSpPr/>
          <p:nvPr/>
        </p:nvSpPr>
        <p:spPr>
          <a:xfrm>
            <a:off x="457200" y="320040"/>
            <a:ext cx="2605680" cy="8226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am Icon Hex"/>
          <p:cNvSpPr/>
          <p:nvPr/>
        </p:nvSpPr>
        <p:spPr>
          <a:xfrm>
            <a:off x="603360" y="457200"/>
            <a:ext cx="630720" cy="54828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Team Icon" descr="Team icon"/>
          <p:cNvPicPr/>
          <p:nvPr/>
        </p:nvPicPr>
        <p:blipFill>
          <a:blip r:embed="rId3"/>
          <a:stretch/>
        </p:blipFill>
        <p:spPr>
          <a:xfrm>
            <a:off x="736200" y="5486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87" name="Team Name"/>
          <p:cNvSpPr/>
          <p:nvPr/>
        </p:nvSpPr>
        <p:spPr>
          <a:xfrm>
            <a:off x="1371600" y="384120"/>
            <a:ext cx="16272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299">
                <a:solidFill>
                  <a:schemeClr val="accent5"/>
                </a:solidFill>
                <a:latin typeface="Calibri"/>
              </a:rPr>
              <a:t>TEAM</a:t>
            </a:r>
            <a:endParaRPr lang="en-IN" sz="9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chemeClr val="accent1"/>
                </a:solidFill>
                <a:latin typeface="Calibri"/>
              </a:rPr>
              <a:t>FixedHacks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Lead Icon Hex"/>
          <p:cNvSpPr/>
          <p:nvPr/>
        </p:nvSpPr>
        <p:spPr>
          <a:xfrm>
            <a:off x="548640" y="1463040"/>
            <a:ext cx="456840" cy="3956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Lead Icon" descr="Lightbulb icon"/>
          <p:cNvPicPr/>
          <p:nvPr/>
        </p:nvPicPr>
        <p:blipFill>
          <a:blip r:embed="rId4"/>
          <a:stretch/>
        </p:blipFill>
        <p:spPr>
          <a:xfrm>
            <a:off x="640080" y="1523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0" name="Lead Text"/>
          <p:cNvSpPr/>
          <p:nvPr/>
        </p:nvSpPr>
        <p:spPr>
          <a:xfrm>
            <a:off x="1170360" y="141732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accent2"/>
                </a:solidFill>
                <a:latin typeface="Calibri"/>
              </a:rPr>
              <a:t>Resources required to solve the problem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Hardware card"/>
          <p:cNvSpPr/>
          <p:nvPr/>
        </p:nvSpPr>
        <p:spPr>
          <a:xfrm>
            <a:off x="548640" y="2148840"/>
            <a:ext cx="3454200" cy="375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i="0" dirty="0">
                <a:solidFill>
                  <a:schemeClr val="accent1"/>
                </a:solidFill>
                <a:latin typeface="Calibri"/>
              </a:rPr>
              <a:t>Hardware requirements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Students' own smartphones and wearables (BYOD); no new device purchase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Android and iOS test phones for the prototype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Small campus or cloud server for the consent-gated backend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Counsellor laptop or desktop for the dashboard</a:t>
            </a:r>
          </a:p>
        </p:txBody>
      </p:sp>
      <p:sp>
        <p:nvSpPr>
          <p:cNvPr id="324" name="Software card"/>
          <p:cNvSpPr/>
          <p:nvPr/>
        </p:nvSpPr>
        <p:spPr>
          <a:xfrm>
            <a:off x="4368600" y="2148840"/>
            <a:ext cx="3454200" cy="375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i="0" dirty="0">
                <a:solidFill>
                  <a:schemeClr val="accent1"/>
                </a:solidFill>
                <a:latin typeface="Calibri"/>
              </a:rPr>
              <a:t>Software requirements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App: Flutter or React Native with Health Connect / HealthKit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On-device ML: TensorFlow Lite for baseline and change detection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Backend: FastAPI + PostgreSQL, encrypted, with a consent ledger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Privacy layer: k-anonymity, differential privacy, role-based access</a:t>
            </a:r>
          </a:p>
        </p:txBody>
      </p:sp>
      <p:sp>
        <p:nvSpPr>
          <p:cNvPr id="325" name="Other resources card"/>
          <p:cNvSpPr/>
          <p:nvPr/>
        </p:nvSpPr>
        <p:spPr>
          <a:xfrm>
            <a:off x="8188560" y="2148840"/>
            <a:ext cx="3454200" cy="375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i="0" dirty="0">
                <a:solidFill>
                  <a:schemeClr val="accent1"/>
                </a:solidFill>
                <a:latin typeface="Calibri"/>
              </a:rPr>
              <a:t>Other resources (incl. people)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Campus counsellor as clinical advisor to validate thresholds and escalation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Trained student peer-supporters from the wellness cell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Validated tools (PHQ-2, GAD-2, WHO-5) and ethics approval</a:t>
            </a:r>
          </a:p>
          <a:p>
            <a:pPr marL="228600" indent="-22860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600" b="0" i="0" dirty="0">
                <a:solidFill>
                  <a:schemeClr val="dk1"/>
                </a:solidFill>
                <a:latin typeface="Calibri"/>
              </a:rPr>
              <a:t>DPDP Act 2023 legal review, admin sponsor, 100-200 pilot students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sldNum" idx="10"/>
          </p:nvPr>
        </p:nvSpPr>
        <p:spPr>
          <a:xfrm>
            <a:off x="11259000" y="6409800"/>
            <a:ext cx="45684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100" b="1" strike="noStrike" spc="-1">
                <a:solidFill>
                  <a:schemeClr val="dk2"/>
                </a:solidFill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921B4397-511A-48C1-8315-B6BEE0D51892}" type="slidenum">
              <a:rPr lang="en-US" sz="1100" b="1" strike="noStrike" spc="-1">
                <a:solidFill>
                  <a:schemeClr val="dk2"/>
                </a:solidFill>
                <a:latin typeface="Calibri"/>
                <a:ea typeface="Calibri"/>
              </a:rPr>
              <a:t>7</a:t>
            </a:fld>
            <a:endParaRPr lang="en-IN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246120" y="320040"/>
            <a:ext cx="749772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97">
                <a:solidFill>
                  <a:schemeClr val="dk2"/>
                </a:solidFill>
                <a:latin typeface="Cambria"/>
                <a:ea typeface="Cambria"/>
              </a:rPr>
              <a:t>INITIAL DIRECTION &amp; EXPECTED OUTCOME</a:t>
            </a:r>
            <a:endParaRPr lang="en-IN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Team Badge"/>
          <p:cNvSpPr/>
          <p:nvPr/>
        </p:nvSpPr>
        <p:spPr>
          <a:xfrm>
            <a:off x="457200" y="320040"/>
            <a:ext cx="2605680" cy="8226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am Icon Hex"/>
          <p:cNvSpPr/>
          <p:nvPr/>
        </p:nvSpPr>
        <p:spPr>
          <a:xfrm>
            <a:off x="603360" y="457200"/>
            <a:ext cx="630720" cy="54828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/>
          </a:solidFill>
          <a:ln w="9525">
            <a:solidFill>
              <a:srgbClr val="D3E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Team Icon" descr="Team icon"/>
          <p:cNvPicPr/>
          <p:nvPr/>
        </p:nvPicPr>
        <p:blipFill>
          <a:blip r:embed="rId3"/>
          <a:stretch/>
        </p:blipFill>
        <p:spPr>
          <a:xfrm>
            <a:off x="736200" y="5486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97" name="Team Name"/>
          <p:cNvSpPr/>
          <p:nvPr/>
        </p:nvSpPr>
        <p:spPr>
          <a:xfrm>
            <a:off x="1371600" y="384120"/>
            <a:ext cx="16272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299">
                <a:solidFill>
                  <a:schemeClr val="accent5"/>
                </a:solidFill>
                <a:latin typeface="Calibri"/>
              </a:rPr>
              <a:t>TEAM</a:t>
            </a:r>
            <a:endParaRPr lang="en-IN" sz="9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chemeClr val="accent1"/>
                </a:solidFill>
                <a:latin typeface="Calibri"/>
              </a:rPr>
              <a:t>FixedHacks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Lead Icon Hex"/>
          <p:cNvSpPr/>
          <p:nvPr/>
        </p:nvSpPr>
        <p:spPr>
          <a:xfrm>
            <a:off x="548640" y="1463040"/>
            <a:ext cx="456840" cy="3956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Lead Icon" descr="Lightbulb icon"/>
          <p:cNvPicPr/>
          <p:nvPr/>
        </p:nvPicPr>
        <p:blipFill>
          <a:blip r:embed="rId4"/>
          <a:stretch/>
        </p:blipFill>
        <p:spPr>
          <a:xfrm>
            <a:off x="640080" y="1523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00" name="Lead Text"/>
          <p:cNvSpPr/>
          <p:nvPr/>
        </p:nvSpPr>
        <p:spPr>
          <a:xfrm>
            <a:off x="1170360" y="141732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accent2"/>
                </a:solidFill>
                <a:latin typeface="Calibri"/>
              </a:rPr>
              <a:t>What Is Your Expected Outcome?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Intent card"/>
          <p:cNvSpPr/>
          <p:nvPr/>
        </p:nvSpPr>
        <p:spPr>
          <a:xfrm>
            <a:off x="548640" y="2148840"/>
            <a:ext cx="3454200" cy="230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 b="1" i="0" dirty="0">
                <a:solidFill>
                  <a:schemeClr val="accent1"/>
                </a:solidFill>
                <a:latin typeface="Calibri"/>
              </a:rPr>
              <a:t>What we intend to do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Build </a:t>
            </a:r>
            <a:r>
              <a:rPr lang="en-US" sz="1400" dirty="0">
                <a:solidFill>
                  <a:schemeClr val="dk1"/>
                </a:solidFill>
                <a:latin typeface="Calibri"/>
              </a:rPr>
              <a:t>HAVEN </a:t>
            </a: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: a consent-based early-signal app on each student's own baseline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Flag sustained drift over weeks, not one bad day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Keep raw data on the phone; share only what the student allows</a:t>
            </a:r>
          </a:p>
        </p:txBody>
      </p:sp>
      <p:sp>
        <p:nvSpPr>
          <p:cNvPr id="327" name="Improve card"/>
          <p:cNvSpPr/>
          <p:nvPr/>
        </p:nvSpPr>
        <p:spPr>
          <a:xfrm>
            <a:off x="4368600" y="2148840"/>
            <a:ext cx="3454200" cy="230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 b="1" i="0" dirty="0">
                <a:solidFill>
                  <a:schemeClr val="accent1"/>
                </a:solidFill>
                <a:latin typeface="Calibri"/>
              </a:rPr>
              <a:t>What we want to improve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Detection: weeks earlier, not at crisis point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Access: help without having to ask for it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Trust: privacy by design, never used for grades or discipline</a:t>
            </a:r>
          </a:p>
        </p:txBody>
      </p:sp>
      <p:sp>
        <p:nvSpPr>
          <p:cNvPr id="328" name="Success card"/>
          <p:cNvSpPr/>
          <p:nvPr/>
        </p:nvSpPr>
        <p:spPr>
          <a:xfrm>
            <a:off x="8188560" y="2148840"/>
            <a:ext cx="3454200" cy="2300000"/>
          </a:xfrm>
          <a:prstGeom prst="roundRect">
            <a:avLst>
              <a:gd name="adj" fmla="val 5000"/>
            </a:avLst>
          </a:prstGeom>
          <a:solidFill>
            <a:schemeClr val="lt1"/>
          </a:solidFill>
          <a:ln w="12700">
            <a:solidFill>
              <a:srgbClr val="D3E6DD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600" b="1" i="0" dirty="0">
                <a:solidFill>
                  <a:schemeClr val="accent1"/>
                </a:solidFill>
                <a:latin typeface="Calibri"/>
              </a:rPr>
              <a:t>Success looks like (pilot targets)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50%+ opt-in; 60%+ of nudged students accept support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Drift to first support contact in under 7 days</a:t>
            </a:r>
          </a:p>
          <a:p>
            <a:pPr marL="228600" indent="-228600" algn="l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dk1"/>
                </a:solidFill>
                <a:latin typeface="Calibri"/>
              </a:rPr>
              <a:t>Under 10% false alerts; zero data shared without consent</a:t>
            </a:r>
          </a:p>
        </p:txBody>
      </p:sp>
      <p:sp>
        <p:nvSpPr>
          <p:cNvPr id="329" name="Pipeline label"/>
          <p:cNvSpPr/>
          <p:nvPr/>
        </p:nvSpPr>
        <p:spPr>
          <a:xfrm>
            <a:off x="548640" y="4528840"/>
            <a:ext cx="110941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chemeClr val="accent1"/>
                </a:solidFill>
                <a:latin typeface="Calibri"/>
              </a:rPr>
              <a:t>How </a:t>
            </a:r>
            <a:r>
              <a:rPr lang="en-US" sz="1600" b="1" dirty="0">
                <a:solidFill>
                  <a:schemeClr val="accent1"/>
                </a:solidFill>
                <a:latin typeface="Calibri"/>
              </a:rPr>
              <a:t>HAVEN</a:t>
            </a:r>
            <a:r>
              <a:rPr lang="en-US" sz="1600" b="1" i="0" dirty="0">
                <a:solidFill>
                  <a:schemeClr val="accent1"/>
                </a:solidFill>
                <a:latin typeface="Calibri"/>
              </a:rPr>
              <a:t> works</a:t>
            </a:r>
          </a:p>
        </p:txBody>
      </p:sp>
      <p:sp>
        <p:nvSpPr>
          <p:cNvPr id="330" name="Thunai step 1"/>
          <p:cNvSpPr/>
          <p:nvPr/>
        </p:nvSpPr>
        <p:spPr>
          <a:xfrm>
            <a:off x="548640" y="4878840"/>
            <a:ext cx="1999368" cy="125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09728" tIns="91440" rIns="109728" bIns="73152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1. Sense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On-device sleep, activity and a 30-second weekly check-in</a:t>
            </a:r>
          </a:p>
        </p:txBody>
      </p:sp>
      <p:sp>
        <p:nvSpPr>
          <p:cNvPr id="331" name="Arrow"/>
          <p:cNvSpPr/>
          <p:nvPr/>
        </p:nvSpPr>
        <p:spPr>
          <a:xfrm>
            <a:off x="2593728" y="5366680"/>
            <a:ext cx="18288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137160" tIns="109728" rIns="137160" bIns="91440" anchor="t">
            <a:noAutofit/>
          </a:bodyPr>
          <a:lstStyle/>
          <a:p>
            <a:endParaRPr lang="en-US" sz="1400"/>
          </a:p>
        </p:txBody>
      </p:sp>
      <p:sp>
        <p:nvSpPr>
          <p:cNvPr id="332" name="Thunai step 2"/>
          <p:cNvSpPr/>
          <p:nvPr/>
        </p:nvSpPr>
        <p:spPr>
          <a:xfrm>
            <a:off x="2822328" y="4878840"/>
            <a:ext cx="1999368" cy="125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09728" tIns="91440" rIns="109728" bIns="73152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2. Detect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Personal baseline plus change detection on 3 domains</a:t>
            </a:r>
          </a:p>
        </p:txBody>
      </p:sp>
      <p:sp>
        <p:nvSpPr>
          <p:cNvPr id="333" name="Arrow"/>
          <p:cNvSpPr/>
          <p:nvPr/>
        </p:nvSpPr>
        <p:spPr>
          <a:xfrm>
            <a:off x="4867416" y="5366680"/>
            <a:ext cx="18288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137160" tIns="109728" rIns="137160" bIns="91440" anchor="t">
            <a:noAutofit/>
          </a:bodyPr>
          <a:lstStyle/>
          <a:p>
            <a:endParaRPr lang="en-US" sz="1400"/>
          </a:p>
        </p:txBody>
      </p:sp>
      <p:sp>
        <p:nvSpPr>
          <p:cNvPr id="334" name="Thunai step 3"/>
          <p:cNvSpPr/>
          <p:nvPr/>
        </p:nvSpPr>
        <p:spPr>
          <a:xfrm>
            <a:off x="5096016" y="4878840"/>
            <a:ext cx="1999368" cy="125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09728" tIns="91440" rIns="109728" bIns="73152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3. Nudge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Private self-care tips first; only the student sees them</a:t>
            </a:r>
          </a:p>
        </p:txBody>
      </p:sp>
      <p:sp>
        <p:nvSpPr>
          <p:cNvPr id="335" name="Arrow"/>
          <p:cNvSpPr/>
          <p:nvPr/>
        </p:nvSpPr>
        <p:spPr>
          <a:xfrm>
            <a:off x="7141104" y="5366680"/>
            <a:ext cx="18288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137160" tIns="109728" rIns="137160" bIns="91440" anchor="t">
            <a:noAutofit/>
          </a:bodyPr>
          <a:lstStyle/>
          <a:p>
            <a:endParaRPr lang="en-US" sz="1400"/>
          </a:p>
        </p:txBody>
      </p:sp>
      <p:sp>
        <p:nvSpPr>
          <p:cNvPr id="336" name="Thunai step 4"/>
          <p:cNvSpPr/>
          <p:nvPr/>
        </p:nvSpPr>
        <p:spPr>
          <a:xfrm>
            <a:off x="7369704" y="4878840"/>
            <a:ext cx="1999368" cy="125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09728" tIns="91440" rIns="109728" bIns="73152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4. Connect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Counsellor, peer or helpline of their choice; crisis escalates</a:t>
            </a:r>
          </a:p>
        </p:txBody>
      </p:sp>
      <p:sp>
        <p:nvSpPr>
          <p:cNvPr id="337" name="Arrow"/>
          <p:cNvSpPr/>
          <p:nvPr/>
        </p:nvSpPr>
        <p:spPr>
          <a:xfrm>
            <a:off x="9414792" y="5366680"/>
            <a:ext cx="18288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137160" tIns="109728" rIns="137160" bIns="91440" anchor="t">
            <a:noAutofit/>
          </a:bodyPr>
          <a:lstStyle/>
          <a:p>
            <a:endParaRPr lang="en-US" sz="1400"/>
          </a:p>
        </p:txBody>
      </p:sp>
      <p:sp>
        <p:nvSpPr>
          <p:cNvPr id="338" name="Thunai step 5"/>
          <p:cNvSpPr/>
          <p:nvPr/>
        </p:nvSpPr>
        <p:spPr>
          <a:xfrm>
            <a:off x="9643392" y="4878840"/>
            <a:ext cx="1999368" cy="125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09728" tIns="91440" rIns="109728" bIns="73152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5. Learn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Anonymous campus hotspots (20+ students per group) guide wellness planning</a:t>
            </a:r>
          </a:p>
        </p:txBody>
      </p:sp>
      <p:sp>
        <p:nvSpPr>
          <p:cNvPr id="102" name="PlaceHolder 2"/>
          <p:cNvSpPr>
            <a:spLocks noGrp="1"/>
          </p:cNvSpPr>
          <p:nvPr>
            <p:ph type="sldNum" idx="11"/>
          </p:nvPr>
        </p:nvSpPr>
        <p:spPr>
          <a:xfrm>
            <a:off x="11259000" y="6409800"/>
            <a:ext cx="45684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100" b="1" strike="noStrike" spc="-1">
                <a:solidFill>
                  <a:schemeClr val="dk2"/>
                </a:solidFill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4DB1E39D-EE14-447C-B436-D69FBCBEAC11}" type="slidenum">
              <a:rPr lang="en-US" sz="1100" b="1" strike="noStrike" spc="-1">
                <a:solidFill>
                  <a:schemeClr val="dk2"/>
                </a:solidFill>
                <a:latin typeface="Calibri"/>
                <a:ea typeface="Calibri"/>
              </a:rPr>
              <a:t>8</a:t>
            </a:fld>
            <a:endParaRPr lang="en-IN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1556</Words>
  <Application>Microsoft Office PowerPoint</Application>
  <PresentationFormat>Widescreen</PresentationFormat>
  <Paragraphs>168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Cambria</vt:lpstr>
      <vt:lpstr>Symbol</vt:lpstr>
      <vt:lpstr>Times New Roman</vt:lpstr>
      <vt:lpstr>Wingdings</vt:lpstr>
      <vt:lpstr>Genesis Ideathon</vt:lpstr>
      <vt:lpstr>Genesis Ideathon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dc:description/>
  <cp:lastModifiedBy>Jiya Pradeepkumar</cp:lastModifiedBy>
  <cp:revision>4</cp:revision>
  <dcterms:created xsi:type="dcterms:W3CDTF">2026-10-07T15:27:40Z</dcterms:created>
  <dcterms:modified xsi:type="dcterms:W3CDTF">2026-10-09T09:32:34Z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