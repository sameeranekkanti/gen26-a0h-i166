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16865"/>
          </a:xfrm>
          <a:custGeom>
            <a:avLst/>
            <a:gdLst/>
            <a:ahLst/>
            <a:cxnLst/>
            <a:rect l="l" t="t" r="r" b="b"/>
            <a:pathLst>
              <a:path w="4608195" h="316865">
                <a:moveTo>
                  <a:pt x="4608004" y="0"/>
                </a:moveTo>
                <a:lnTo>
                  <a:pt x="0" y="0"/>
                </a:lnTo>
                <a:lnTo>
                  <a:pt x="0" y="316801"/>
                </a:lnTo>
                <a:lnTo>
                  <a:pt x="4608004" y="316801"/>
                </a:lnTo>
                <a:lnTo>
                  <a:pt x="4608004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02" y="57555"/>
            <a:ext cx="2715895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106" y="712372"/>
            <a:ext cx="3822065" cy="2112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720210" y="3333867"/>
            <a:ext cx="57657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11302" y="3333867"/>
            <a:ext cx="525144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358" y="373058"/>
            <a:ext cx="1110269" cy="4590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646" y="431263"/>
            <a:ext cx="815796" cy="3493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3048" y="448325"/>
            <a:ext cx="234127" cy="3087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4002" y="973912"/>
            <a:ext cx="3960495" cy="15240"/>
          </a:xfrm>
          <a:custGeom>
            <a:avLst/>
            <a:gdLst/>
            <a:ahLst/>
            <a:cxnLst/>
            <a:rect l="l" t="t" r="r" b="b"/>
            <a:pathLst>
              <a:path w="3960495" h="15240">
                <a:moveTo>
                  <a:pt x="3959999" y="0"/>
                </a:moveTo>
                <a:lnTo>
                  <a:pt x="0" y="0"/>
                </a:lnTo>
                <a:lnTo>
                  <a:pt x="0" y="15189"/>
                </a:lnTo>
                <a:lnTo>
                  <a:pt x="3959999" y="15189"/>
                </a:lnTo>
                <a:lnTo>
                  <a:pt x="3959999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4002" y="1220635"/>
            <a:ext cx="871219" cy="31750"/>
          </a:xfrm>
          <a:custGeom>
            <a:avLst/>
            <a:gdLst/>
            <a:ahLst/>
            <a:cxnLst/>
            <a:rect l="l" t="t" r="r" b="b"/>
            <a:pathLst>
              <a:path w="871219" h="31750">
                <a:moveTo>
                  <a:pt x="871207" y="0"/>
                </a:moveTo>
                <a:lnTo>
                  <a:pt x="0" y="0"/>
                </a:lnTo>
                <a:lnTo>
                  <a:pt x="0" y="31635"/>
                </a:lnTo>
                <a:lnTo>
                  <a:pt x="871207" y="31635"/>
                </a:lnTo>
                <a:lnTo>
                  <a:pt x="87120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11302" y="1376131"/>
            <a:ext cx="25958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85">
                <a:latin typeface="Arial Black"/>
                <a:cs typeface="Arial Black"/>
              </a:rPr>
              <a:t>Genesis</a:t>
            </a:r>
            <a:r>
              <a:rPr dirty="0" sz="1200" spc="35">
                <a:latin typeface="Arial Black"/>
                <a:cs typeface="Arial Black"/>
              </a:rPr>
              <a:t> </a:t>
            </a:r>
            <a:r>
              <a:rPr dirty="0" sz="1200" spc="-105">
                <a:latin typeface="Arial Black"/>
                <a:cs typeface="Arial Black"/>
              </a:rPr>
              <a:t>Ideathon:</a:t>
            </a:r>
            <a:r>
              <a:rPr dirty="0" sz="1200" spc="100">
                <a:latin typeface="Arial Black"/>
                <a:cs typeface="Arial Black"/>
              </a:rPr>
              <a:t> </a:t>
            </a:r>
            <a:r>
              <a:rPr dirty="0" sz="1200" spc="-120">
                <a:latin typeface="Arial Black"/>
                <a:cs typeface="Arial Black"/>
              </a:rPr>
              <a:t>Final</a:t>
            </a:r>
            <a:r>
              <a:rPr dirty="0" sz="1200" spc="20">
                <a:latin typeface="Arial Black"/>
                <a:cs typeface="Arial Black"/>
              </a:rPr>
              <a:t> </a:t>
            </a:r>
            <a:r>
              <a:rPr dirty="0" sz="1200" spc="-114">
                <a:latin typeface="Arial Black"/>
                <a:cs typeface="Arial Black"/>
              </a:rPr>
              <a:t>Presentation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6505" y="1699836"/>
            <a:ext cx="3960495" cy="848994"/>
          </a:xfrm>
          <a:custGeom>
            <a:avLst/>
            <a:gdLst/>
            <a:ahLst/>
            <a:cxnLst/>
            <a:rect l="l" t="t" r="r" b="b"/>
            <a:pathLst>
              <a:path w="3960495" h="848994">
                <a:moveTo>
                  <a:pt x="3909450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797968"/>
                </a:lnTo>
                <a:lnTo>
                  <a:pt x="3977" y="817668"/>
                </a:lnTo>
                <a:lnTo>
                  <a:pt x="14823" y="833755"/>
                </a:lnTo>
                <a:lnTo>
                  <a:pt x="30910" y="844602"/>
                </a:lnTo>
                <a:lnTo>
                  <a:pt x="50610" y="848579"/>
                </a:lnTo>
                <a:lnTo>
                  <a:pt x="3909450" y="848579"/>
                </a:lnTo>
                <a:lnTo>
                  <a:pt x="3929151" y="844602"/>
                </a:lnTo>
                <a:lnTo>
                  <a:pt x="3945238" y="833755"/>
                </a:lnTo>
                <a:lnTo>
                  <a:pt x="3956084" y="817668"/>
                </a:lnTo>
                <a:lnTo>
                  <a:pt x="3960061" y="797968"/>
                </a:lnTo>
                <a:lnTo>
                  <a:pt x="3960061" y="50610"/>
                </a:lnTo>
                <a:lnTo>
                  <a:pt x="3956084" y="30910"/>
                </a:lnTo>
                <a:lnTo>
                  <a:pt x="3945238" y="14823"/>
                </a:lnTo>
                <a:lnTo>
                  <a:pt x="3929151" y="3977"/>
                </a:lnTo>
                <a:lnTo>
                  <a:pt x="3909450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9826" y="1774487"/>
            <a:ext cx="3081655" cy="661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Arial"/>
                <a:cs typeface="Arial"/>
              </a:rPr>
              <a:t>Team</a:t>
            </a:r>
            <a:r>
              <a:rPr dirty="0" sz="1000" spc="1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ID:</a:t>
            </a:r>
            <a:r>
              <a:rPr dirty="0" sz="1000" spc="150">
                <a:latin typeface="Arial"/>
                <a:cs typeface="Arial"/>
              </a:rPr>
              <a:t> </a:t>
            </a:r>
            <a:r>
              <a:rPr dirty="0" sz="1000" i="1">
                <a:latin typeface="Calibri"/>
                <a:cs typeface="Calibri"/>
              </a:rPr>
              <a:t>GEN26-A0H-</a:t>
            </a:r>
            <a:r>
              <a:rPr dirty="0" sz="1000" spc="-20" i="1">
                <a:latin typeface="Calibri"/>
                <a:cs typeface="Calibri"/>
              </a:rPr>
              <a:t>I166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00" spc="-55">
                <a:latin typeface="Arial"/>
                <a:cs typeface="Arial"/>
              </a:rPr>
              <a:t>Team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Name:</a:t>
            </a:r>
            <a:r>
              <a:rPr dirty="0" sz="1000" spc="105">
                <a:latin typeface="Arial"/>
                <a:cs typeface="Arial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FixedHacks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00" spc="-20">
                <a:latin typeface="Arial"/>
                <a:cs typeface="Arial"/>
              </a:rPr>
              <a:t>Domain:</a:t>
            </a:r>
            <a:r>
              <a:rPr dirty="0" sz="1000" spc="210">
                <a:latin typeface="Arial"/>
                <a:cs typeface="Arial"/>
              </a:rPr>
              <a:t> </a:t>
            </a:r>
            <a:r>
              <a:rPr dirty="0" sz="1000" i="1">
                <a:latin typeface="Calibri"/>
                <a:cs typeface="Calibri"/>
              </a:rPr>
              <a:t>Healthcare,</a:t>
            </a:r>
            <a:r>
              <a:rPr dirty="0" sz="1000" spc="10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Biotechnology</a:t>
            </a:r>
            <a:r>
              <a:rPr dirty="0" sz="1000" spc="105" i="1">
                <a:latin typeface="Calibri"/>
                <a:cs typeface="Calibri"/>
              </a:rPr>
              <a:t> </a:t>
            </a:r>
            <a:r>
              <a:rPr dirty="0" sz="1000" spc="60" i="1">
                <a:latin typeface="Calibri"/>
                <a:cs typeface="Calibri"/>
              </a:rPr>
              <a:t>&amp;</a:t>
            </a:r>
            <a:r>
              <a:rPr dirty="0" sz="1000" spc="10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Human</a:t>
            </a:r>
            <a:r>
              <a:rPr dirty="0" sz="1000" spc="10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Well-</a:t>
            </a:r>
            <a:r>
              <a:rPr dirty="0" sz="1000" spc="-10" i="1">
                <a:latin typeface="Calibri"/>
                <a:cs typeface="Calibri"/>
              </a:rPr>
              <a:t>being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3974" y="1697305"/>
            <a:ext cx="38100" cy="854075"/>
          </a:xfrm>
          <a:custGeom>
            <a:avLst/>
            <a:gdLst/>
            <a:ahLst/>
            <a:cxnLst/>
            <a:rect l="l" t="t" r="r" b="b"/>
            <a:pathLst>
              <a:path w="38100" h="854075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0" y="834661"/>
                </a:lnTo>
                <a:lnTo>
                  <a:pt x="1491" y="842048"/>
                </a:lnTo>
                <a:lnTo>
                  <a:pt x="5558" y="848081"/>
                </a:lnTo>
                <a:lnTo>
                  <a:pt x="11591" y="852149"/>
                </a:lnTo>
                <a:lnTo>
                  <a:pt x="18979" y="853640"/>
                </a:lnTo>
                <a:lnTo>
                  <a:pt x="26366" y="852149"/>
                </a:lnTo>
                <a:lnTo>
                  <a:pt x="32399" y="848081"/>
                </a:lnTo>
                <a:lnTo>
                  <a:pt x="36466" y="842048"/>
                </a:lnTo>
                <a:lnTo>
                  <a:pt x="37958" y="834661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11302" y="2741544"/>
            <a:ext cx="253936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154B33"/>
                </a:solidFill>
                <a:latin typeface="Arial"/>
                <a:cs typeface="Arial"/>
              </a:rPr>
              <a:t>Amrita</a:t>
            </a:r>
            <a:r>
              <a:rPr dirty="0" sz="900" spc="2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54B33"/>
                </a:solidFill>
                <a:latin typeface="Arial"/>
                <a:cs typeface="Arial"/>
              </a:rPr>
              <a:t>Vishwa</a:t>
            </a:r>
            <a:r>
              <a:rPr dirty="0" sz="900" spc="2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54B33"/>
                </a:solidFill>
                <a:latin typeface="Arial"/>
                <a:cs typeface="Arial"/>
              </a:rPr>
              <a:t>Vidyapeetham,</a:t>
            </a:r>
            <a:r>
              <a:rPr dirty="0" sz="900" spc="2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154B33"/>
                </a:solidFill>
                <a:latin typeface="Arial"/>
                <a:cs typeface="Arial"/>
              </a:rPr>
              <a:t>Coimbatore</a:t>
            </a:r>
            <a:r>
              <a:rPr dirty="0" sz="900" spc="2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154B33"/>
                </a:solidFill>
                <a:latin typeface="Arial"/>
                <a:cs typeface="Arial"/>
              </a:rPr>
              <a:t>Campus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2879" y="2741544"/>
            <a:ext cx="12934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latin typeface="Arial Black"/>
                <a:cs typeface="Arial Black"/>
              </a:rPr>
              <a:t>Date: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11th</a:t>
            </a:r>
            <a:r>
              <a:rPr dirty="0" sz="900" spc="-10">
                <a:latin typeface="Arial"/>
                <a:cs typeface="Arial"/>
              </a:rPr>
              <a:t> October </a:t>
            </a:r>
            <a:r>
              <a:rPr dirty="0" sz="900" spc="-20"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-12"/>
            <a:ext cx="4608195" cy="57785"/>
          </a:xfrm>
          <a:custGeom>
            <a:avLst/>
            <a:gdLst/>
            <a:ahLst/>
            <a:cxnLst/>
            <a:rect l="l" t="t" r="r" b="b"/>
            <a:pathLst>
              <a:path w="4608195" h="57785">
                <a:moveTo>
                  <a:pt x="4608004" y="0"/>
                </a:moveTo>
                <a:lnTo>
                  <a:pt x="0" y="0"/>
                </a:lnTo>
                <a:lnTo>
                  <a:pt x="0" y="57607"/>
                </a:lnTo>
                <a:lnTo>
                  <a:pt x="4608004" y="57607"/>
                </a:lnTo>
                <a:lnTo>
                  <a:pt x="4608004" y="0"/>
                </a:lnTo>
                <a:close/>
              </a:path>
            </a:pathLst>
          </a:custGeom>
          <a:solidFill>
            <a:srgbClr val="154B3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4048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Presentation</a:t>
            </a:r>
            <a:r>
              <a:rPr dirty="0" sz="1100" spc="120">
                <a:latin typeface="Arial Black"/>
                <a:cs typeface="Arial Black"/>
              </a:rPr>
              <a:t> </a:t>
            </a:r>
            <a:r>
              <a:rPr dirty="0" sz="1100" spc="-90">
                <a:latin typeface="Arial Black"/>
                <a:cs typeface="Arial Black"/>
              </a:rPr>
              <a:t>Outline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16801"/>
            <a:ext cx="4608195" cy="17780"/>
          </a:xfrm>
          <a:custGeom>
            <a:avLst/>
            <a:gdLst/>
            <a:ahLst/>
            <a:cxnLst/>
            <a:rect l="l" t="t" r="r" b="b"/>
            <a:pathLst>
              <a:path w="4608195" h="17779">
                <a:moveTo>
                  <a:pt x="4608004" y="0"/>
                </a:moveTo>
                <a:lnTo>
                  <a:pt x="0" y="0"/>
                </a:lnTo>
                <a:lnTo>
                  <a:pt x="0" y="17716"/>
                </a:lnTo>
                <a:lnTo>
                  <a:pt x="4608004" y="17716"/>
                </a:lnTo>
                <a:lnTo>
                  <a:pt x="4608004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1302" y="1191200"/>
            <a:ext cx="1515745" cy="95694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dirty="0" sz="900" spc="-45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Statement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900" spc="-45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Understanding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Existing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00" spc="-6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Gaps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00" spc="9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&amp;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00" spc="-4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Challenges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dirty="0" sz="90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Our</a:t>
            </a:r>
            <a:r>
              <a:rPr dirty="0" sz="900" spc="1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900" spc="-35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305" algn="l"/>
              </a:tabLst>
            </a:pPr>
            <a:r>
              <a:rPr dirty="0" sz="900" spc="-25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Technical</a:t>
            </a:r>
            <a:r>
              <a:rPr dirty="0" sz="900" spc="10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Approach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Innovation</a:t>
            </a:r>
            <a:r>
              <a:rPr dirty="0" sz="900" spc="2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900" spc="95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&amp;</a:t>
            </a:r>
            <a:r>
              <a:rPr dirty="0" sz="900" spc="2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Uniqueness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0518" y="1191200"/>
            <a:ext cx="1790700" cy="95694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240"/>
              </a:spcBef>
              <a:buAutoNum type="arabicPeriod" startAt="7"/>
              <a:tabLst>
                <a:tab pos="154305" algn="l"/>
              </a:tabLst>
            </a:pPr>
            <a:r>
              <a:rPr dirty="0" sz="900" spc="-2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Feasibility</a:t>
            </a:r>
            <a:r>
              <a:rPr dirty="0" sz="900" spc="5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900" spc="95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&amp;</a:t>
            </a:r>
            <a:r>
              <a:rPr dirty="0" sz="900" spc="55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Scalability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Cost </a:t>
            </a:r>
            <a:r>
              <a:rPr dirty="0" sz="90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for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 Product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154305" algn="l"/>
              </a:tabLst>
            </a:pPr>
            <a:r>
              <a:rPr dirty="0" sz="900" spc="-55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Use</a:t>
            </a:r>
            <a:r>
              <a:rPr dirty="0" sz="900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Cases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2090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Impacts</a:t>
            </a:r>
            <a:r>
              <a:rPr dirty="0" sz="900" spc="-35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and</a:t>
            </a:r>
            <a:r>
              <a:rPr dirty="0" sz="900" spc="-3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Benefits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212090" algn="l"/>
              </a:tabLst>
            </a:pPr>
            <a:r>
              <a:rPr dirty="0" sz="900" spc="-35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Sustainable</a:t>
            </a:r>
            <a:r>
              <a:rPr dirty="0" sz="900" spc="1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900" spc="-25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Development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Goals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2090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Individual</a:t>
            </a:r>
            <a:r>
              <a:rPr dirty="0" sz="900" spc="5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Member</a:t>
            </a:r>
            <a:r>
              <a:rPr dirty="0" sz="900" spc="5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Contribution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Problem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Statement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73189" y="1155331"/>
            <a:ext cx="3810000" cy="989330"/>
          </a:xfrm>
          <a:custGeom>
            <a:avLst/>
            <a:gdLst/>
            <a:ahLst/>
            <a:cxnLst/>
            <a:rect l="l" t="t" r="r" b="b"/>
            <a:pathLst>
              <a:path w="3810000" h="989330">
                <a:moveTo>
                  <a:pt x="3809657" y="44411"/>
                </a:moveTo>
                <a:lnTo>
                  <a:pt x="3808349" y="44411"/>
                </a:lnTo>
                <a:lnTo>
                  <a:pt x="3805656" y="31076"/>
                </a:lnTo>
                <a:lnTo>
                  <a:pt x="3794734" y="14922"/>
                </a:lnTo>
                <a:lnTo>
                  <a:pt x="3778580" y="4013"/>
                </a:lnTo>
                <a:lnTo>
                  <a:pt x="375885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11"/>
                </a:lnTo>
                <a:lnTo>
                  <a:pt x="0" y="44411"/>
                </a:lnTo>
                <a:lnTo>
                  <a:pt x="0" y="50800"/>
                </a:lnTo>
                <a:lnTo>
                  <a:pt x="0" y="82384"/>
                </a:lnTo>
                <a:lnTo>
                  <a:pt x="0" y="937971"/>
                </a:lnTo>
                <a:lnTo>
                  <a:pt x="4013" y="957707"/>
                </a:lnTo>
                <a:lnTo>
                  <a:pt x="14922" y="973861"/>
                </a:lnTo>
                <a:lnTo>
                  <a:pt x="31076" y="984770"/>
                </a:lnTo>
                <a:lnTo>
                  <a:pt x="50812" y="988783"/>
                </a:lnTo>
                <a:lnTo>
                  <a:pt x="3758857" y="988783"/>
                </a:lnTo>
                <a:lnTo>
                  <a:pt x="3778580" y="984770"/>
                </a:lnTo>
                <a:lnTo>
                  <a:pt x="3794734" y="973861"/>
                </a:lnTo>
                <a:lnTo>
                  <a:pt x="3805656" y="957707"/>
                </a:lnTo>
                <a:lnTo>
                  <a:pt x="3809657" y="937971"/>
                </a:lnTo>
                <a:lnTo>
                  <a:pt x="3809657" y="82384"/>
                </a:lnTo>
                <a:lnTo>
                  <a:pt x="3809657" y="50800"/>
                </a:lnTo>
                <a:lnTo>
                  <a:pt x="3809657" y="44411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7299" y="1281474"/>
            <a:ext cx="3296920" cy="706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100"/>
              </a:spcBef>
            </a:pPr>
            <a:r>
              <a:rPr dirty="0" sz="1000" spc="-20">
                <a:latin typeface="Arial"/>
                <a:cs typeface="Arial"/>
              </a:rPr>
              <a:t>How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can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higher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education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institutions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identify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student mental </a:t>
            </a:r>
            <a:r>
              <a:rPr dirty="0" sz="1000" spc="-20">
                <a:latin typeface="Arial"/>
                <a:cs typeface="Arial"/>
              </a:rPr>
              <a:t>health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distress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proactively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without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data </a:t>
            </a:r>
            <a:r>
              <a:rPr dirty="0" sz="1000" spc="-20">
                <a:latin typeface="Arial"/>
                <a:cs typeface="Arial"/>
              </a:rPr>
              <a:t>exploitation,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ensuring </a:t>
            </a:r>
            <a:r>
              <a:rPr dirty="0" sz="1000">
                <a:latin typeface="Arial"/>
                <a:cs typeface="Arial"/>
              </a:rPr>
              <a:t>total </a:t>
            </a:r>
            <a:r>
              <a:rPr dirty="0" sz="1000" spc="-60">
                <a:latin typeface="Arial"/>
                <a:cs typeface="Arial"/>
              </a:rPr>
              <a:t>user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privacy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while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70">
                <a:latin typeface="Arial"/>
                <a:cs typeface="Arial"/>
              </a:rPr>
              <a:t>seamlessly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bridging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students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to </a:t>
            </a:r>
            <a:r>
              <a:rPr dirty="0" sz="1000">
                <a:latin typeface="Arial"/>
                <a:cs typeface="Arial"/>
              </a:rPr>
              <a:t>institutional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60">
                <a:latin typeface="Arial"/>
                <a:cs typeface="Arial"/>
              </a:rPr>
              <a:t>counselors</a:t>
            </a:r>
            <a:r>
              <a:rPr dirty="0" sz="1000" spc="-10">
                <a:latin typeface="Arial"/>
                <a:cs typeface="Arial"/>
              </a:rPr>
              <a:t> during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critical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moments?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Problem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Understanding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04208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49516" rIns="0" bIns="0" rtlCol="0" vert="horz">
            <a:spAutoFit/>
          </a:bodyPr>
          <a:lstStyle/>
          <a:p>
            <a:pPr marL="12700" marR="194945">
              <a:lnSpc>
                <a:spcPct val="113100"/>
              </a:lnSpc>
              <a:spcBef>
                <a:spcPts val="100"/>
              </a:spcBef>
            </a:pPr>
            <a:r>
              <a:rPr dirty="0" spc="-105">
                <a:latin typeface="Arial Black"/>
                <a:cs typeface="Arial Black"/>
              </a:rPr>
              <a:t>Target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00">
                <a:latin typeface="Arial Black"/>
                <a:cs typeface="Arial Black"/>
              </a:rPr>
              <a:t>Audience: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30"/>
              <a:t>Undergraduate</a:t>
            </a:r>
            <a:r>
              <a:rPr dirty="0" spc="20"/>
              <a:t> </a:t>
            </a:r>
            <a:r>
              <a:rPr dirty="0" spc="-10"/>
              <a:t>and</a:t>
            </a:r>
            <a:r>
              <a:rPr dirty="0" spc="25"/>
              <a:t> </a:t>
            </a:r>
            <a:r>
              <a:rPr dirty="0" spc="-25"/>
              <a:t>postgraduate</a:t>
            </a:r>
            <a:r>
              <a:rPr dirty="0" spc="20"/>
              <a:t> </a:t>
            </a:r>
            <a:r>
              <a:rPr dirty="0" spc="-25"/>
              <a:t>students,</a:t>
            </a:r>
            <a:r>
              <a:rPr dirty="0" spc="25"/>
              <a:t> </a:t>
            </a:r>
            <a:r>
              <a:rPr dirty="0" spc="-10"/>
              <a:t>particularly </a:t>
            </a:r>
            <a:r>
              <a:rPr dirty="0" spc="-20"/>
              <a:t>hostel</a:t>
            </a:r>
            <a:r>
              <a:rPr dirty="0" spc="-5"/>
              <a:t> </a:t>
            </a:r>
            <a:r>
              <a:rPr dirty="0" spc="-30"/>
              <a:t>residents</a:t>
            </a:r>
            <a:r>
              <a:rPr dirty="0" spc="-5"/>
              <a:t> </a:t>
            </a:r>
            <a:r>
              <a:rPr dirty="0" spc="-10"/>
              <a:t>and</a:t>
            </a:r>
            <a:r>
              <a:rPr dirty="0"/>
              <a:t> quiet</a:t>
            </a:r>
            <a:r>
              <a:rPr dirty="0" spc="-5"/>
              <a:t> </a:t>
            </a:r>
            <a:r>
              <a:rPr dirty="0" spc="-25"/>
              <a:t>strugglers</a:t>
            </a:r>
            <a:r>
              <a:rPr dirty="0"/>
              <a:t> </a:t>
            </a:r>
            <a:r>
              <a:rPr dirty="0" spc="-10"/>
              <a:t>facing</a:t>
            </a:r>
            <a:r>
              <a:rPr dirty="0" spc="-5"/>
              <a:t> </a:t>
            </a:r>
            <a:r>
              <a:rPr dirty="0" spc="-30"/>
              <a:t>intense</a:t>
            </a:r>
            <a:r>
              <a:rPr dirty="0"/>
              <a:t> </a:t>
            </a:r>
            <a:r>
              <a:rPr dirty="0" spc="-40"/>
              <a:t>academic</a:t>
            </a:r>
            <a:r>
              <a:rPr dirty="0" spc="-5"/>
              <a:t> </a:t>
            </a:r>
            <a:r>
              <a:rPr dirty="0" spc="-10"/>
              <a:t>and</a:t>
            </a:r>
            <a:r>
              <a:rPr dirty="0"/>
              <a:t> </a:t>
            </a:r>
            <a:r>
              <a:rPr dirty="0" spc="-10"/>
              <a:t>social pressure.</a:t>
            </a:r>
          </a:p>
          <a:p>
            <a:pPr marL="12700" marR="259079">
              <a:lnSpc>
                <a:spcPct val="113100"/>
              </a:lnSpc>
              <a:spcBef>
                <a:spcPts val="994"/>
              </a:spcBef>
            </a:pPr>
            <a:r>
              <a:rPr dirty="0" spc="-110">
                <a:latin typeface="Arial Black"/>
                <a:cs typeface="Arial Black"/>
              </a:rPr>
              <a:t>Core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00">
                <a:latin typeface="Arial Black"/>
                <a:cs typeface="Arial Black"/>
              </a:rPr>
              <a:t>Bottlenecks: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/>
              <a:t>Traditional</a:t>
            </a:r>
            <a:r>
              <a:rPr dirty="0" spc="-10"/>
              <a:t> student</a:t>
            </a:r>
            <a:r>
              <a:rPr dirty="0" spc="15"/>
              <a:t> </a:t>
            </a:r>
            <a:r>
              <a:rPr dirty="0" spc="-50"/>
              <a:t>assistance</a:t>
            </a:r>
            <a:r>
              <a:rPr dirty="0" spc="15"/>
              <a:t> </a:t>
            </a:r>
            <a:r>
              <a:rPr dirty="0" spc="-30"/>
              <a:t>models</a:t>
            </a:r>
            <a:r>
              <a:rPr dirty="0" spc="15"/>
              <a:t> </a:t>
            </a:r>
            <a:r>
              <a:rPr dirty="0" spc="-30"/>
              <a:t>are</a:t>
            </a:r>
            <a:r>
              <a:rPr dirty="0" spc="10"/>
              <a:t> </a:t>
            </a:r>
            <a:r>
              <a:rPr dirty="0" spc="-10"/>
              <a:t>entirely </a:t>
            </a:r>
            <a:r>
              <a:rPr dirty="0" spc="-25"/>
              <a:t>reactive;</a:t>
            </a:r>
            <a:r>
              <a:rPr dirty="0" spc="20"/>
              <a:t> </a:t>
            </a:r>
            <a:r>
              <a:rPr dirty="0" spc="-20"/>
              <a:t>students</a:t>
            </a:r>
            <a:r>
              <a:rPr dirty="0" spc="25"/>
              <a:t> </a:t>
            </a:r>
            <a:r>
              <a:rPr dirty="0" spc="-20"/>
              <a:t>hesitate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visit</a:t>
            </a:r>
            <a:r>
              <a:rPr dirty="0" spc="25"/>
              <a:t> </a:t>
            </a:r>
            <a:r>
              <a:rPr dirty="0" spc="-25"/>
              <a:t>physical</a:t>
            </a:r>
            <a:r>
              <a:rPr dirty="0" spc="25"/>
              <a:t> </a:t>
            </a:r>
            <a:r>
              <a:rPr dirty="0" spc="-45"/>
              <a:t>wellness</a:t>
            </a:r>
            <a:r>
              <a:rPr dirty="0" spc="25"/>
              <a:t> </a:t>
            </a:r>
            <a:r>
              <a:rPr dirty="0" spc="-30"/>
              <a:t>centers</a:t>
            </a:r>
            <a:r>
              <a:rPr dirty="0" spc="25"/>
              <a:t> </a:t>
            </a:r>
            <a:r>
              <a:rPr dirty="0" spc="-25"/>
              <a:t>due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 spc="-10"/>
              <a:t>social stigma.</a:t>
            </a:r>
          </a:p>
          <a:p>
            <a:pPr marL="12700" marR="5080">
              <a:lnSpc>
                <a:spcPct val="113100"/>
              </a:lnSpc>
              <a:spcBef>
                <a:spcPts val="1000"/>
              </a:spcBef>
            </a:pPr>
            <a:r>
              <a:rPr dirty="0" spc="-70">
                <a:latin typeface="Arial Black"/>
                <a:cs typeface="Arial Black"/>
              </a:rPr>
              <a:t>Data</a:t>
            </a:r>
            <a:r>
              <a:rPr dirty="0" spc="-5">
                <a:latin typeface="Arial Black"/>
                <a:cs typeface="Arial Black"/>
              </a:rPr>
              <a:t> </a:t>
            </a:r>
            <a:r>
              <a:rPr dirty="0" spc="-85">
                <a:latin typeface="Arial Black"/>
                <a:cs typeface="Arial Black"/>
              </a:rPr>
              <a:t>Vulnerability:</a:t>
            </a:r>
            <a:r>
              <a:rPr dirty="0" spc="10">
                <a:latin typeface="Arial Black"/>
                <a:cs typeface="Arial Black"/>
              </a:rPr>
              <a:t> </a:t>
            </a:r>
            <a:r>
              <a:rPr dirty="0"/>
              <a:t>Public </a:t>
            </a:r>
            <a:r>
              <a:rPr dirty="0" spc="-10"/>
              <a:t>mental</a:t>
            </a:r>
            <a:r>
              <a:rPr dirty="0"/>
              <a:t> </a:t>
            </a:r>
            <a:r>
              <a:rPr dirty="0" spc="-10"/>
              <a:t>health</a:t>
            </a:r>
            <a:r>
              <a:rPr dirty="0"/>
              <a:t> </a:t>
            </a:r>
            <a:r>
              <a:rPr dirty="0" spc="-35"/>
              <a:t>apps</a:t>
            </a:r>
            <a:r>
              <a:rPr dirty="0" spc="5"/>
              <a:t> </a:t>
            </a:r>
            <a:r>
              <a:rPr dirty="0" spc="-10"/>
              <a:t>and</a:t>
            </a:r>
            <a:r>
              <a:rPr dirty="0"/>
              <a:t> </a:t>
            </a:r>
            <a:r>
              <a:rPr dirty="0" spc="-10"/>
              <a:t>chatbots</a:t>
            </a:r>
            <a:r>
              <a:rPr dirty="0" spc="5"/>
              <a:t> </a:t>
            </a:r>
            <a:r>
              <a:rPr dirty="0" spc="-25"/>
              <a:t>harvest</a:t>
            </a:r>
            <a:r>
              <a:rPr dirty="0"/>
              <a:t> </a:t>
            </a:r>
            <a:r>
              <a:rPr dirty="0" spc="-20"/>
              <a:t>user </a:t>
            </a:r>
            <a:r>
              <a:rPr dirty="0"/>
              <a:t>inputs</a:t>
            </a:r>
            <a:r>
              <a:rPr dirty="0" spc="-10"/>
              <a:t> </a:t>
            </a:r>
            <a:r>
              <a:rPr dirty="0"/>
              <a:t>for </a:t>
            </a:r>
            <a:r>
              <a:rPr dirty="0" spc="-20"/>
              <a:t>model</a:t>
            </a:r>
            <a:r>
              <a:rPr dirty="0"/>
              <a:t> training</a:t>
            </a:r>
            <a:r>
              <a:rPr dirty="0" spc="-5"/>
              <a:t> </a:t>
            </a:r>
            <a:r>
              <a:rPr dirty="0"/>
              <a:t>or </a:t>
            </a:r>
            <a:r>
              <a:rPr dirty="0" spc="-25"/>
              <a:t>commercial</a:t>
            </a:r>
            <a:r>
              <a:rPr dirty="0"/>
              <a:t> profiling,</a:t>
            </a:r>
            <a:r>
              <a:rPr dirty="0" spc="5"/>
              <a:t> </a:t>
            </a:r>
            <a:r>
              <a:rPr dirty="0" spc="-40"/>
              <a:t>causing</a:t>
            </a:r>
            <a:r>
              <a:rPr dirty="0"/>
              <a:t> </a:t>
            </a:r>
            <a:r>
              <a:rPr dirty="0" spc="-70"/>
              <a:t>severe</a:t>
            </a:r>
            <a:r>
              <a:rPr dirty="0" spc="5"/>
              <a:t> </a:t>
            </a:r>
            <a:r>
              <a:rPr dirty="0"/>
              <a:t>trust </a:t>
            </a:r>
            <a:r>
              <a:rPr dirty="0" spc="-10"/>
              <a:t>deficits.</a:t>
            </a:r>
          </a:p>
        </p:txBody>
      </p:sp>
      <p:sp>
        <p:nvSpPr>
          <p:cNvPr id="8" name="object 8"/>
          <p:cNvSpPr/>
          <p:nvPr/>
        </p:nvSpPr>
        <p:spPr>
          <a:xfrm>
            <a:off x="377101" y="163412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22615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Arial Black"/>
                <a:cs typeface="Arial Black"/>
              </a:rPr>
              <a:t>Existing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70">
                <a:latin typeface="Arial Black"/>
                <a:cs typeface="Arial Black"/>
              </a:rPr>
              <a:t>Gaps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130">
                <a:latin typeface="Arial Black"/>
                <a:cs typeface="Arial Black"/>
              </a:rPr>
              <a:t>Challenges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2939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6829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pc="-114">
                <a:latin typeface="Arial Black"/>
                <a:cs typeface="Arial Black"/>
              </a:rPr>
              <a:t>Reactive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14">
                <a:latin typeface="Arial Black"/>
                <a:cs typeface="Arial Black"/>
              </a:rPr>
              <a:t>Frameworks:</a:t>
            </a:r>
            <a:r>
              <a:rPr dirty="0" spc="40">
                <a:latin typeface="Arial Black"/>
                <a:cs typeface="Arial Black"/>
              </a:rPr>
              <a:t> </a:t>
            </a:r>
            <a:r>
              <a:rPr dirty="0" spc="-40"/>
              <a:t>Wardens</a:t>
            </a:r>
            <a:r>
              <a:rPr dirty="0" spc="-15"/>
              <a:t> </a:t>
            </a:r>
            <a:r>
              <a:rPr dirty="0" spc="-10"/>
              <a:t>and</a:t>
            </a:r>
            <a:r>
              <a:rPr dirty="0" spc="20"/>
              <a:t> </a:t>
            </a:r>
            <a:r>
              <a:rPr dirty="0" spc="-25"/>
              <a:t>mentors</a:t>
            </a:r>
            <a:r>
              <a:rPr dirty="0" spc="15"/>
              <a:t> </a:t>
            </a:r>
            <a:r>
              <a:rPr dirty="0"/>
              <a:t>spot</a:t>
            </a:r>
            <a:r>
              <a:rPr dirty="0" spc="15"/>
              <a:t> </a:t>
            </a:r>
            <a:r>
              <a:rPr dirty="0" spc="-30"/>
              <a:t>behavioral</a:t>
            </a:r>
            <a:r>
              <a:rPr dirty="0" spc="20"/>
              <a:t> </a:t>
            </a:r>
            <a:r>
              <a:rPr dirty="0"/>
              <a:t>shifts</a:t>
            </a:r>
            <a:r>
              <a:rPr dirty="0" spc="15"/>
              <a:t> </a:t>
            </a:r>
            <a:r>
              <a:rPr dirty="0"/>
              <a:t>too</a:t>
            </a:r>
            <a:r>
              <a:rPr dirty="0" spc="15"/>
              <a:t> </a:t>
            </a:r>
            <a:r>
              <a:rPr dirty="0" spc="-10"/>
              <a:t>late, relying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 spc="-40"/>
              <a:t>ad-</a:t>
            </a:r>
            <a:r>
              <a:rPr dirty="0"/>
              <a:t>hoc</a:t>
            </a:r>
            <a:r>
              <a:rPr dirty="0" spc="-15"/>
              <a:t> </a:t>
            </a:r>
            <a:r>
              <a:rPr dirty="0" spc="-30"/>
              <a:t>personal</a:t>
            </a:r>
            <a:r>
              <a:rPr dirty="0" spc="-15"/>
              <a:t> </a:t>
            </a:r>
            <a:r>
              <a:rPr dirty="0" spc="-10"/>
              <a:t>observations.</a:t>
            </a:r>
          </a:p>
          <a:p>
            <a:pPr marL="12700" marR="342265">
              <a:lnSpc>
                <a:spcPct val="113100"/>
              </a:lnSpc>
              <a:spcBef>
                <a:spcPts val="994"/>
              </a:spcBef>
            </a:pPr>
            <a:r>
              <a:rPr dirty="0" spc="-80">
                <a:latin typeface="Arial Black"/>
                <a:cs typeface="Arial Black"/>
              </a:rPr>
              <a:t>The</a:t>
            </a:r>
            <a:r>
              <a:rPr dirty="0" spc="5">
                <a:latin typeface="Arial Black"/>
                <a:cs typeface="Arial Black"/>
              </a:rPr>
              <a:t> </a:t>
            </a:r>
            <a:r>
              <a:rPr dirty="0" spc="-100">
                <a:latin typeface="Arial Black"/>
                <a:cs typeface="Arial Black"/>
              </a:rPr>
              <a:t>Privacy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80">
                <a:latin typeface="Arial Black"/>
                <a:cs typeface="Arial Black"/>
              </a:rPr>
              <a:t>Dilemma:</a:t>
            </a:r>
            <a:r>
              <a:rPr dirty="0" spc="15">
                <a:latin typeface="Arial Black"/>
                <a:cs typeface="Arial Black"/>
              </a:rPr>
              <a:t> </a:t>
            </a:r>
            <a:r>
              <a:rPr dirty="0" spc="-35"/>
              <a:t>Anonymous</a:t>
            </a:r>
            <a:r>
              <a:rPr dirty="0" spc="25"/>
              <a:t> </a:t>
            </a:r>
            <a:r>
              <a:rPr dirty="0" spc="-35"/>
              <a:t>apps</a:t>
            </a:r>
            <a:r>
              <a:rPr dirty="0" spc="25"/>
              <a:t> </a:t>
            </a:r>
            <a:r>
              <a:rPr dirty="0"/>
              <a:t>protect</a:t>
            </a:r>
            <a:r>
              <a:rPr dirty="0" spc="25"/>
              <a:t> </a:t>
            </a:r>
            <a:r>
              <a:rPr dirty="0" spc="-10"/>
              <a:t>student</a:t>
            </a:r>
            <a:r>
              <a:rPr dirty="0" spc="25"/>
              <a:t> </a:t>
            </a:r>
            <a:r>
              <a:rPr dirty="0"/>
              <a:t>identity</a:t>
            </a:r>
            <a:r>
              <a:rPr dirty="0" spc="25"/>
              <a:t> </a:t>
            </a:r>
            <a:r>
              <a:rPr dirty="0" spc="-25"/>
              <a:t>but </a:t>
            </a:r>
            <a:r>
              <a:rPr dirty="0" spc="-20"/>
              <a:t>prevent</a:t>
            </a:r>
            <a:r>
              <a:rPr dirty="0" spc="25"/>
              <a:t> </a:t>
            </a:r>
            <a:r>
              <a:rPr dirty="0"/>
              <a:t>institutional</a:t>
            </a:r>
            <a:r>
              <a:rPr dirty="0" spc="25"/>
              <a:t> </a:t>
            </a:r>
            <a:r>
              <a:rPr dirty="0" spc="-50"/>
              <a:t>counselors</a:t>
            </a:r>
            <a:r>
              <a:rPr dirty="0" spc="30"/>
              <a:t> </a:t>
            </a:r>
            <a:r>
              <a:rPr dirty="0"/>
              <a:t>from</a:t>
            </a:r>
            <a:r>
              <a:rPr dirty="0" spc="25"/>
              <a:t> </a:t>
            </a:r>
            <a:r>
              <a:rPr dirty="0" spc="-20"/>
              <a:t>intervening</a:t>
            </a:r>
            <a:r>
              <a:rPr dirty="0" spc="25"/>
              <a:t> </a:t>
            </a:r>
            <a:r>
              <a:rPr dirty="0" spc="-10"/>
              <a:t>during</a:t>
            </a:r>
            <a:r>
              <a:rPr dirty="0" spc="30"/>
              <a:t> </a:t>
            </a:r>
            <a:r>
              <a:rPr dirty="0" spc="-40"/>
              <a:t>serious</a:t>
            </a:r>
            <a:r>
              <a:rPr dirty="0" spc="25"/>
              <a:t> </a:t>
            </a:r>
            <a:r>
              <a:rPr dirty="0" spc="-10"/>
              <a:t>crises.</a:t>
            </a:r>
          </a:p>
          <a:p>
            <a:pPr marL="12700" marR="106045">
              <a:lnSpc>
                <a:spcPct val="113100"/>
              </a:lnSpc>
              <a:spcBef>
                <a:spcPts val="1000"/>
              </a:spcBef>
            </a:pPr>
            <a:r>
              <a:rPr dirty="0" spc="-120">
                <a:latin typeface="Arial Black"/>
                <a:cs typeface="Arial Black"/>
              </a:rPr>
              <a:t>Commercial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35">
                <a:latin typeface="Arial Black"/>
                <a:cs typeface="Arial Black"/>
              </a:rPr>
              <a:t>LLM</a:t>
            </a:r>
            <a:r>
              <a:rPr dirty="0" spc="-40">
                <a:latin typeface="Arial Black"/>
                <a:cs typeface="Arial Black"/>
              </a:rPr>
              <a:t> </a:t>
            </a:r>
            <a:r>
              <a:rPr dirty="0" spc="-110">
                <a:latin typeface="Arial Black"/>
                <a:cs typeface="Arial Black"/>
              </a:rPr>
              <a:t>Risks:</a:t>
            </a:r>
            <a:r>
              <a:rPr dirty="0" spc="70">
                <a:latin typeface="Arial Black"/>
                <a:cs typeface="Arial Black"/>
              </a:rPr>
              <a:t> </a:t>
            </a:r>
            <a:r>
              <a:rPr dirty="0" spc="-10"/>
              <a:t>External</a:t>
            </a:r>
            <a:r>
              <a:rPr dirty="0" spc="25"/>
              <a:t> </a:t>
            </a:r>
            <a:r>
              <a:rPr dirty="0" spc="-10"/>
              <a:t>chatbots</a:t>
            </a:r>
            <a:r>
              <a:rPr dirty="0" spc="25"/>
              <a:t> </a:t>
            </a:r>
            <a:r>
              <a:rPr dirty="0"/>
              <a:t>lack</a:t>
            </a:r>
            <a:r>
              <a:rPr dirty="0" spc="30"/>
              <a:t> </a:t>
            </a:r>
            <a:r>
              <a:rPr dirty="0" spc="-25"/>
              <a:t>human</a:t>
            </a:r>
            <a:r>
              <a:rPr dirty="0" spc="25"/>
              <a:t> </a:t>
            </a:r>
            <a:r>
              <a:rPr dirty="0" spc="-10"/>
              <a:t>accountability, </a:t>
            </a:r>
            <a:r>
              <a:rPr dirty="0" spc="-30"/>
              <a:t>handle</a:t>
            </a:r>
            <a:r>
              <a:rPr dirty="0" spc="10"/>
              <a:t> </a:t>
            </a:r>
            <a:r>
              <a:rPr dirty="0" spc="-25"/>
              <a:t>high-</a:t>
            </a:r>
            <a:r>
              <a:rPr dirty="0"/>
              <a:t>risk</a:t>
            </a:r>
            <a:r>
              <a:rPr dirty="0" spc="10"/>
              <a:t> </a:t>
            </a:r>
            <a:r>
              <a:rPr dirty="0" spc="-30"/>
              <a:t>psychological</a:t>
            </a:r>
            <a:r>
              <a:rPr dirty="0" spc="15"/>
              <a:t> </a:t>
            </a:r>
            <a:r>
              <a:rPr dirty="0" spc="-35"/>
              <a:t>distress</a:t>
            </a:r>
            <a:r>
              <a:rPr dirty="0" spc="10"/>
              <a:t> </a:t>
            </a:r>
            <a:r>
              <a:rPr dirty="0" spc="-35"/>
              <a:t>weakly,</a:t>
            </a:r>
            <a:r>
              <a:rPr dirty="0" spc="15"/>
              <a:t> </a:t>
            </a:r>
            <a:r>
              <a:rPr dirty="0" spc="-10"/>
              <a:t>and</a:t>
            </a:r>
            <a:r>
              <a:rPr dirty="0" spc="10"/>
              <a:t> </a:t>
            </a:r>
            <a:r>
              <a:rPr dirty="0" spc="-50"/>
              <a:t>pose</a:t>
            </a:r>
            <a:r>
              <a:rPr dirty="0" spc="15"/>
              <a:t> </a:t>
            </a:r>
            <a:r>
              <a:rPr dirty="0" spc="-65"/>
              <a:t>severe</a:t>
            </a:r>
            <a:r>
              <a:rPr dirty="0" spc="10"/>
              <a:t> </a:t>
            </a:r>
            <a:r>
              <a:rPr dirty="0"/>
              <a:t>data</a:t>
            </a:r>
            <a:r>
              <a:rPr dirty="0" spc="15"/>
              <a:t> </a:t>
            </a:r>
            <a:r>
              <a:rPr dirty="0" spc="-10"/>
              <a:t>privacy threats.</a:t>
            </a:r>
          </a:p>
          <a:p>
            <a:pPr marL="12700" marR="52069">
              <a:lnSpc>
                <a:spcPct val="113100"/>
              </a:lnSpc>
              <a:spcBef>
                <a:spcPts val="994"/>
              </a:spcBef>
            </a:pPr>
            <a:r>
              <a:rPr dirty="0" spc="-114">
                <a:latin typeface="Arial Black"/>
                <a:cs typeface="Arial Black"/>
              </a:rPr>
              <a:t>Unsolved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75">
                <a:latin typeface="Arial Black"/>
                <a:cs typeface="Arial Black"/>
              </a:rPr>
              <a:t>Need:</a:t>
            </a:r>
            <a:r>
              <a:rPr dirty="0" spc="85">
                <a:latin typeface="Arial Black"/>
                <a:cs typeface="Arial Black"/>
              </a:rPr>
              <a:t> </a:t>
            </a:r>
            <a:r>
              <a:rPr dirty="0"/>
              <a:t>A</a:t>
            </a:r>
            <a:r>
              <a:rPr dirty="0" spc="45"/>
              <a:t> </a:t>
            </a:r>
            <a:r>
              <a:rPr dirty="0" spc="-50"/>
              <a:t>campus-</a:t>
            </a:r>
            <a:r>
              <a:rPr dirty="0" spc="-35"/>
              <a:t>governed</a:t>
            </a:r>
            <a:r>
              <a:rPr dirty="0" spc="50"/>
              <a:t> </a:t>
            </a:r>
            <a:r>
              <a:rPr dirty="0" spc="-45"/>
              <a:t>ecosystem</a:t>
            </a:r>
            <a:r>
              <a:rPr dirty="0" spc="45"/>
              <a:t> </a:t>
            </a:r>
            <a:r>
              <a:rPr dirty="0"/>
              <a:t>that</a:t>
            </a:r>
            <a:r>
              <a:rPr dirty="0" spc="45"/>
              <a:t> </a:t>
            </a:r>
            <a:r>
              <a:rPr dirty="0" spc="-20"/>
              <a:t>unifies</a:t>
            </a:r>
            <a:r>
              <a:rPr dirty="0" spc="50"/>
              <a:t> </a:t>
            </a:r>
            <a:r>
              <a:rPr dirty="0" spc="-30"/>
              <a:t>effortless</a:t>
            </a:r>
            <a:r>
              <a:rPr dirty="0" spc="45"/>
              <a:t> </a:t>
            </a:r>
            <a:r>
              <a:rPr dirty="0" spc="-20"/>
              <a:t>mood logging,</a:t>
            </a:r>
            <a:r>
              <a:rPr dirty="0"/>
              <a:t> </a:t>
            </a:r>
            <a:r>
              <a:rPr dirty="0" spc="-20"/>
              <a:t>risk-</a:t>
            </a:r>
            <a:r>
              <a:rPr dirty="0" spc="-40"/>
              <a:t>phrase</a:t>
            </a:r>
            <a:r>
              <a:rPr dirty="0" spc="5"/>
              <a:t> </a:t>
            </a:r>
            <a:r>
              <a:rPr dirty="0" spc="-20"/>
              <a:t>evaluation,</a:t>
            </a:r>
            <a:r>
              <a:rPr dirty="0" spc="5"/>
              <a:t> </a:t>
            </a:r>
            <a:r>
              <a:rPr dirty="0" spc="-10"/>
              <a:t>and</a:t>
            </a:r>
            <a:r>
              <a:rPr dirty="0" spc="5"/>
              <a:t> </a:t>
            </a:r>
            <a:r>
              <a:rPr dirty="0" spc="-50"/>
              <a:t>secure</a:t>
            </a:r>
            <a:r>
              <a:rPr dirty="0" spc="5"/>
              <a:t> </a:t>
            </a:r>
            <a:r>
              <a:rPr dirty="0" spc="-30"/>
              <a:t>escalation</a:t>
            </a:r>
            <a:r>
              <a:rPr dirty="0" spc="5"/>
              <a:t> </a:t>
            </a:r>
            <a:r>
              <a:rPr dirty="0" spc="-10"/>
              <a:t>paths.</a:t>
            </a:r>
          </a:p>
        </p:txBody>
      </p:sp>
      <p:sp>
        <p:nvSpPr>
          <p:cNvPr id="8" name="object 8"/>
          <p:cNvSpPr/>
          <p:nvPr/>
        </p:nvSpPr>
        <p:spPr>
          <a:xfrm>
            <a:off x="377101" y="13662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8031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7101" y="23951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Arial Black"/>
                <a:cs typeface="Arial Black"/>
              </a:rPr>
              <a:t>Our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Proposed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Solution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80526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25095">
              <a:lnSpc>
                <a:spcPct val="113100"/>
              </a:lnSpc>
              <a:spcBef>
                <a:spcPts val="100"/>
              </a:spcBef>
            </a:pPr>
            <a:r>
              <a:rPr dirty="0" spc="-75">
                <a:latin typeface="Arial Black"/>
                <a:cs typeface="Arial Black"/>
              </a:rPr>
              <a:t>HAVEN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dirty="0" spc="-120">
                <a:latin typeface="Arial Black"/>
                <a:cs typeface="Arial Black"/>
              </a:rPr>
              <a:t>Ecosystem:</a:t>
            </a:r>
            <a:r>
              <a:rPr dirty="0" spc="60">
                <a:latin typeface="Arial Black"/>
                <a:cs typeface="Arial Black"/>
              </a:rPr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 spc="-45"/>
              <a:t>secure,</a:t>
            </a:r>
            <a:r>
              <a:rPr dirty="0" spc="30"/>
              <a:t> </a:t>
            </a:r>
            <a:r>
              <a:rPr dirty="0" spc="-50"/>
              <a:t>college-</a:t>
            </a:r>
            <a:r>
              <a:rPr dirty="0" spc="-40"/>
              <a:t>governed</a:t>
            </a:r>
            <a:r>
              <a:rPr dirty="0" spc="25"/>
              <a:t> </a:t>
            </a:r>
            <a:r>
              <a:rPr dirty="0" spc="-10"/>
              <a:t>mobile</a:t>
            </a:r>
            <a:r>
              <a:rPr dirty="0" spc="30"/>
              <a:t> </a:t>
            </a:r>
            <a:r>
              <a:rPr dirty="0" spc="-10"/>
              <a:t>app</a:t>
            </a:r>
            <a:r>
              <a:rPr dirty="0" spc="25"/>
              <a:t> </a:t>
            </a:r>
            <a:r>
              <a:rPr dirty="0" spc="-35"/>
              <a:t>where</a:t>
            </a:r>
            <a:r>
              <a:rPr dirty="0" spc="25"/>
              <a:t> </a:t>
            </a:r>
            <a:r>
              <a:rPr dirty="0" spc="-10"/>
              <a:t>student </a:t>
            </a:r>
            <a:r>
              <a:rPr dirty="0" spc="-25"/>
              <a:t>privacy</a:t>
            </a:r>
            <a:r>
              <a:rPr dirty="0" spc="5"/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 spc="-20"/>
              <a:t>protected</a:t>
            </a:r>
            <a:r>
              <a:rPr dirty="0" spc="5"/>
              <a:t> </a:t>
            </a:r>
            <a:r>
              <a:rPr dirty="0"/>
              <a:t>at</a:t>
            </a:r>
            <a:r>
              <a:rPr dirty="0" spc="10"/>
              <a:t> </a:t>
            </a:r>
            <a:r>
              <a:rPr dirty="0"/>
              <a:t>all</a:t>
            </a:r>
            <a:r>
              <a:rPr dirty="0" spc="5"/>
              <a:t> </a:t>
            </a:r>
            <a:r>
              <a:rPr dirty="0" spc="-30"/>
              <a:t>costs</a:t>
            </a:r>
            <a:r>
              <a:rPr dirty="0" spc="10"/>
              <a:t> </a:t>
            </a:r>
            <a:r>
              <a:rPr dirty="0" spc="-35"/>
              <a:t>where</a:t>
            </a:r>
            <a:r>
              <a:rPr dirty="0" spc="5"/>
              <a:t> </a:t>
            </a:r>
            <a:r>
              <a:rPr dirty="0"/>
              <a:t>data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5"/>
              <a:t> </a:t>
            </a:r>
            <a:r>
              <a:rPr dirty="0" spc="-30"/>
              <a:t>never</a:t>
            </a:r>
            <a:r>
              <a:rPr dirty="0" spc="10"/>
              <a:t> </a:t>
            </a:r>
            <a:r>
              <a:rPr dirty="0" spc="-60"/>
              <a:t>used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10"/>
              <a:t> </a:t>
            </a:r>
            <a:r>
              <a:rPr dirty="0" spc="-10"/>
              <a:t>commercial </a:t>
            </a:r>
            <a:r>
              <a:rPr dirty="0" spc="-25"/>
              <a:t>learning</a:t>
            </a:r>
            <a:r>
              <a:rPr dirty="0"/>
              <a:t> or </a:t>
            </a:r>
            <a:r>
              <a:rPr dirty="0" spc="-10"/>
              <a:t>profiling.</a:t>
            </a:r>
          </a:p>
          <a:p>
            <a:pPr marL="12700" marR="42545">
              <a:lnSpc>
                <a:spcPct val="113100"/>
              </a:lnSpc>
              <a:spcBef>
                <a:spcPts val="994"/>
              </a:spcBef>
            </a:pPr>
            <a:r>
              <a:rPr dirty="0" spc="-114">
                <a:latin typeface="Arial Black"/>
                <a:cs typeface="Arial Black"/>
              </a:rPr>
              <a:t>Frictionless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Check-</a:t>
            </a:r>
            <a:r>
              <a:rPr dirty="0" spc="-30">
                <a:latin typeface="Arial Black"/>
                <a:cs typeface="Arial Black"/>
              </a:rPr>
              <a:t>In:</a:t>
            </a:r>
            <a:r>
              <a:rPr dirty="0" spc="-10">
                <a:latin typeface="Arial Black"/>
                <a:cs typeface="Arial Black"/>
              </a:rPr>
              <a:t> </a:t>
            </a:r>
            <a:r>
              <a:rPr dirty="0"/>
              <a:t>Upon</a:t>
            </a:r>
            <a:r>
              <a:rPr dirty="0" spc="5"/>
              <a:t> </a:t>
            </a:r>
            <a:r>
              <a:rPr dirty="0" spc="-25"/>
              <a:t>opening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10"/>
              <a:t>app,</a:t>
            </a:r>
            <a:r>
              <a:rPr dirty="0" spc="10"/>
              <a:t> </a:t>
            </a:r>
            <a:r>
              <a:rPr dirty="0" spc="-50"/>
              <a:t>users</a:t>
            </a:r>
            <a:r>
              <a:rPr dirty="0" spc="5"/>
              <a:t> </a:t>
            </a:r>
            <a:r>
              <a:rPr dirty="0"/>
              <a:t>instantly</a:t>
            </a:r>
            <a:r>
              <a:rPr dirty="0" spc="10"/>
              <a:t> </a:t>
            </a:r>
            <a:r>
              <a:rPr dirty="0"/>
              <a:t>log</a:t>
            </a:r>
            <a:r>
              <a:rPr dirty="0" spc="5"/>
              <a:t> </a:t>
            </a:r>
            <a:r>
              <a:rPr dirty="0"/>
              <a:t>their</a:t>
            </a:r>
            <a:r>
              <a:rPr dirty="0" spc="10"/>
              <a:t> </a:t>
            </a:r>
            <a:r>
              <a:rPr dirty="0" spc="-10"/>
              <a:t>day’s </a:t>
            </a:r>
            <a:r>
              <a:rPr dirty="0"/>
              <a:t>mood via quick</a:t>
            </a:r>
            <a:r>
              <a:rPr dirty="0" spc="5"/>
              <a:t> </a:t>
            </a:r>
            <a:r>
              <a:rPr dirty="0" spc="-10"/>
              <a:t>options</a:t>
            </a:r>
            <a:r>
              <a:rPr dirty="0"/>
              <a:t> without </a:t>
            </a:r>
            <a:r>
              <a:rPr dirty="0" spc="-20"/>
              <a:t>navigating</a:t>
            </a:r>
            <a:r>
              <a:rPr dirty="0" spc="5"/>
              <a:t> </a:t>
            </a:r>
            <a:r>
              <a:rPr dirty="0"/>
              <a:t>extra </a:t>
            </a:r>
            <a:r>
              <a:rPr dirty="0" spc="-10"/>
              <a:t>tabs.</a:t>
            </a:r>
          </a:p>
          <a:p>
            <a:pPr>
              <a:lnSpc>
                <a:spcPct val="100000"/>
              </a:lnSpc>
              <a:spcBef>
                <a:spcPts val="10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95">
                <a:latin typeface="Arial Black"/>
                <a:cs typeface="Arial Black"/>
              </a:rPr>
              <a:t>Intelligent</a:t>
            </a:r>
            <a:r>
              <a:rPr dirty="0" spc="20">
                <a:latin typeface="Arial Black"/>
                <a:cs typeface="Arial Black"/>
              </a:rPr>
              <a:t> </a:t>
            </a:r>
            <a:r>
              <a:rPr dirty="0" spc="-120">
                <a:latin typeface="Arial Black"/>
                <a:cs typeface="Arial Black"/>
              </a:rPr>
              <a:t>Risk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90">
                <a:latin typeface="Arial Black"/>
                <a:cs typeface="Arial Black"/>
              </a:rPr>
              <a:t>Evaluation:</a:t>
            </a:r>
            <a:r>
              <a:rPr dirty="0" spc="45">
                <a:latin typeface="Arial Black"/>
                <a:cs typeface="Arial Black"/>
              </a:rPr>
              <a:t> </a:t>
            </a:r>
            <a:r>
              <a:rPr dirty="0"/>
              <a:t>Optional</a:t>
            </a:r>
            <a:r>
              <a:rPr dirty="0" spc="35"/>
              <a:t> </a:t>
            </a:r>
            <a:r>
              <a:rPr dirty="0" spc="-20"/>
              <a:t>elaboration</a:t>
            </a:r>
            <a:r>
              <a:rPr dirty="0" spc="35"/>
              <a:t> </a:t>
            </a:r>
            <a:r>
              <a:rPr dirty="0"/>
              <a:t>text</a:t>
            </a:r>
            <a:r>
              <a:rPr dirty="0" spc="35"/>
              <a:t> </a:t>
            </a:r>
            <a:r>
              <a:rPr dirty="0"/>
              <a:t>is</a:t>
            </a:r>
            <a:r>
              <a:rPr dirty="0" spc="40"/>
              <a:t> </a:t>
            </a:r>
            <a:r>
              <a:rPr dirty="0" spc="-40"/>
              <a:t>analyzed</a:t>
            </a:r>
            <a:r>
              <a:rPr dirty="0" spc="35"/>
              <a:t> </a:t>
            </a:r>
            <a:r>
              <a:rPr dirty="0" spc="-25"/>
              <a:t>for</a:t>
            </a:r>
          </a:p>
          <a:p>
            <a:pPr marL="12700" marR="22225">
              <a:lnSpc>
                <a:spcPct val="113100"/>
              </a:lnSpc>
            </a:pPr>
            <a:r>
              <a:rPr dirty="0" spc="-40"/>
              <a:t>risk-</a:t>
            </a:r>
            <a:r>
              <a:rPr dirty="0" spc="-20"/>
              <a:t>scoring</a:t>
            </a:r>
            <a:r>
              <a:rPr dirty="0"/>
              <a:t> </a:t>
            </a:r>
            <a:r>
              <a:rPr dirty="0" spc="-40"/>
              <a:t>phrases.</a:t>
            </a:r>
            <a:r>
              <a:rPr dirty="0" spc="80"/>
              <a:t> </a:t>
            </a:r>
            <a:r>
              <a:rPr dirty="0" spc="-10"/>
              <a:t>Low/moderate</a:t>
            </a:r>
            <a:r>
              <a:rPr dirty="0" spc="5"/>
              <a:t> </a:t>
            </a:r>
            <a:r>
              <a:rPr dirty="0" spc="-20"/>
              <a:t>risks</a:t>
            </a:r>
            <a:r>
              <a:rPr dirty="0"/>
              <a:t> </a:t>
            </a:r>
            <a:r>
              <a:rPr dirty="0" spc="-40"/>
              <a:t>receive</a:t>
            </a:r>
            <a:r>
              <a:rPr dirty="0"/>
              <a:t> </a:t>
            </a:r>
            <a:r>
              <a:rPr dirty="0" spc="-20"/>
              <a:t>supportive</a:t>
            </a:r>
            <a:r>
              <a:rPr dirty="0"/>
              <a:t> </a:t>
            </a:r>
            <a:r>
              <a:rPr dirty="0" spc="-35"/>
              <a:t>guidance</a:t>
            </a:r>
            <a:r>
              <a:rPr dirty="0"/>
              <a:t> via</a:t>
            </a:r>
            <a:r>
              <a:rPr dirty="0" spc="5"/>
              <a:t> </a:t>
            </a:r>
            <a:r>
              <a:rPr dirty="0" spc="-20"/>
              <a:t>safe </a:t>
            </a:r>
            <a:r>
              <a:rPr dirty="0"/>
              <a:t>LLM</a:t>
            </a:r>
            <a:r>
              <a:rPr dirty="0" spc="105"/>
              <a:t> </a:t>
            </a:r>
            <a:r>
              <a:rPr dirty="0" spc="-10"/>
              <a:t>responses.</a:t>
            </a: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pc="-110">
                <a:latin typeface="Arial Black"/>
                <a:cs typeface="Arial Black"/>
              </a:rPr>
              <a:t>Immediate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Human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90">
                <a:latin typeface="Arial Black"/>
                <a:cs typeface="Arial Black"/>
              </a:rPr>
              <a:t>Intervention:</a:t>
            </a:r>
            <a:r>
              <a:rPr dirty="0" spc="85">
                <a:latin typeface="Arial Black"/>
                <a:cs typeface="Arial Black"/>
              </a:rPr>
              <a:t> </a:t>
            </a:r>
            <a:r>
              <a:rPr dirty="0" spc="-20"/>
              <a:t>High-</a:t>
            </a:r>
            <a:r>
              <a:rPr dirty="0"/>
              <a:t>risk</a:t>
            </a:r>
            <a:r>
              <a:rPr dirty="0" spc="50"/>
              <a:t> </a:t>
            </a:r>
            <a:r>
              <a:rPr dirty="0" spc="-65"/>
              <a:t>scores</a:t>
            </a:r>
            <a:r>
              <a:rPr dirty="0" spc="50"/>
              <a:t> </a:t>
            </a:r>
            <a:r>
              <a:rPr dirty="0"/>
              <a:t>instantly</a:t>
            </a:r>
            <a:r>
              <a:rPr dirty="0" spc="50"/>
              <a:t> </a:t>
            </a:r>
            <a:r>
              <a:rPr dirty="0"/>
              <a:t>notify</a:t>
            </a:r>
            <a:r>
              <a:rPr dirty="0" spc="50"/>
              <a:t> </a:t>
            </a:r>
            <a:r>
              <a:rPr dirty="0" spc="-25"/>
              <a:t>the</a:t>
            </a:r>
            <a:r>
              <a:rPr dirty="0" spc="500"/>
              <a:t> </a:t>
            </a:r>
            <a:r>
              <a:rPr dirty="0" spc="-35"/>
              <a:t>campus</a:t>
            </a:r>
            <a:r>
              <a:rPr dirty="0" spc="10"/>
              <a:t> </a:t>
            </a:r>
            <a:r>
              <a:rPr dirty="0" spc="-40"/>
              <a:t>counselor</a:t>
            </a:r>
            <a:r>
              <a:rPr dirty="0" spc="10"/>
              <a:t> </a:t>
            </a:r>
            <a:r>
              <a:rPr dirty="0" spc="-10"/>
              <a:t>and</a:t>
            </a:r>
            <a:r>
              <a:rPr dirty="0" spc="10"/>
              <a:t> </a:t>
            </a:r>
            <a:r>
              <a:rPr dirty="0" spc="-20"/>
              <a:t>hostel</a:t>
            </a:r>
            <a:r>
              <a:rPr dirty="0" spc="10"/>
              <a:t> </a:t>
            </a:r>
            <a:r>
              <a:rPr dirty="0" spc="-40"/>
              <a:t>warden</a:t>
            </a:r>
            <a:r>
              <a:rPr dirty="0" spc="15"/>
              <a:t> </a:t>
            </a:r>
            <a:r>
              <a:rPr dirty="0"/>
              <a:t>(if</a:t>
            </a:r>
            <a:r>
              <a:rPr dirty="0" spc="10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 spc="-10"/>
              <a:t>hosteller),</a:t>
            </a:r>
            <a:r>
              <a:rPr dirty="0" spc="10"/>
              <a:t> </a:t>
            </a:r>
            <a:r>
              <a:rPr dirty="0" spc="-35"/>
              <a:t>revealing</a:t>
            </a:r>
            <a:r>
              <a:rPr dirty="0" spc="10"/>
              <a:t> </a:t>
            </a:r>
            <a:r>
              <a:rPr dirty="0" spc="-10"/>
              <a:t>detailed</a:t>
            </a:r>
            <a:r>
              <a:rPr dirty="0" spc="15"/>
              <a:t> </a:t>
            </a:r>
            <a:r>
              <a:rPr dirty="0" spc="-10"/>
              <a:t>history </a:t>
            </a:r>
            <a:r>
              <a:rPr dirty="0" spc="-40"/>
              <a:t>exclusively</a:t>
            </a:r>
            <a:r>
              <a:rPr dirty="0" spc="55"/>
              <a:t> </a:t>
            </a:r>
            <a:r>
              <a:rPr dirty="0"/>
              <a:t>to</a:t>
            </a:r>
            <a:r>
              <a:rPr dirty="0" spc="55"/>
              <a:t> </a:t>
            </a:r>
            <a:r>
              <a:rPr dirty="0" spc="-25"/>
              <a:t>authorized</a:t>
            </a:r>
            <a:r>
              <a:rPr dirty="0" spc="60"/>
              <a:t> </a:t>
            </a:r>
            <a:r>
              <a:rPr dirty="0" spc="-10"/>
              <a:t>professionals.</a:t>
            </a:r>
          </a:p>
        </p:txBody>
      </p:sp>
      <p:sp>
        <p:nvSpPr>
          <p:cNvPr id="8" name="object 8"/>
          <p:cNvSpPr/>
          <p:nvPr/>
        </p:nvSpPr>
        <p:spPr>
          <a:xfrm>
            <a:off x="377101" y="13973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8341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7101" y="24262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26936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5">
                <a:latin typeface="Arial Black"/>
                <a:cs typeface="Arial Black"/>
              </a:rPr>
              <a:t>Technical</a:t>
            </a:r>
            <a:r>
              <a:rPr dirty="0" sz="1100" spc="80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Approach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01221" y="948516"/>
            <a:ext cx="1130935" cy="342265"/>
          </a:xfrm>
          <a:custGeom>
            <a:avLst/>
            <a:gdLst/>
            <a:ahLst/>
            <a:cxnLst/>
            <a:rect l="l" t="t" r="r" b="b"/>
            <a:pathLst>
              <a:path w="1130935" h="342265">
                <a:moveTo>
                  <a:pt x="1092666" y="0"/>
                </a:moveTo>
                <a:lnTo>
                  <a:pt x="37958" y="0"/>
                </a:lnTo>
                <a:lnTo>
                  <a:pt x="23182" y="2982"/>
                </a:lnTo>
                <a:lnTo>
                  <a:pt x="11117" y="11117"/>
                </a:lnTo>
                <a:lnTo>
                  <a:pt x="2982" y="23182"/>
                </a:lnTo>
                <a:lnTo>
                  <a:pt x="0" y="37958"/>
                </a:lnTo>
                <a:lnTo>
                  <a:pt x="0" y="304044"/>
                </a:lnTo>
                <a:lnTo>
                  <a:pt x="2982" y="318820"/>
                </a:lnTo>
                <a:lnTo>
                  <a:pt x="11117" y="330885"/>
                </a:lnTo>
                <a:lnTo>
                  <a:pt x="23182" y="339020"/>
                </a:lnTo>
                <a:lnTo>
                  <a:pt x="37958" y="342003"/>
                </a:lnTo>
                <a:lnTo>
                  <a:pt x="1092666" y="342003"/>
                </a:lnTo>
                <a:lnTo>
                  <a:pt x="1107441" y="339020"/>
                </a:lnTo>
                <a:lnTo>
                  <a:pt x="1119506" y="330885"/>
                </a:lnTo>
                <a:lnTo>
                  <a:pt x="1127641" y="318820"/>
                </a:lnTo>
                <a:lnTo>
                  <a:pt x="1130624" y="304044"/>
                </a:lnTo>
                <a:lnTo>
                  <a:pt x="1130624" y="37958"/>
                </a:lnTo>
                <a:lnTo>
                  <a:pt x="1127641" y="23182"/>
                </a:lnTo>
                <a:lnTo>
                  <a:pt x="1119506" y="11117"/>
                </a:lnTo>
                <a:lnTo>
                  <a:pt x="1107441" y="2982"/>
                </a:lnTo>
                <a:lnTo>
                  <a:pt x="1092666" y="0"/>
                </a:lnTo>
                <a:close/>
              </a:path>
            </a:pathLst>
          </a:custGeom>
          <a:ln w="8856">
            <a:solidFill>
              <a:srgbClr val="2268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6798" y="942587"/>
            <a:ext cx="73977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5715">
              <a:lnSpc>
                <a:spcPct val="108500"/>
              </a:lnSpc>
              <a:spcBef>
                <a:spcPts val="100"/>
              </a:spcBef>
            </a:pPr>
            <a:r>
              <a:rPr dirty="0" sz="600" spc="-55">
                <a:solidFill>
                  <a:srgbClr val="154B33"/>
                </a:solidFill>
                <a:latin typeface="Arial Black"/>
                <a:cs typeface="Arial Black"/>
              </a:rPr>
              <a:t>HAVEN</a:t>
            </a:r>
            <a:r>
              <a:rPr dirty="0" sz="600" spc="2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600" spc="-50">
                <a:solidFill>
                  <a:srgbClr val="154B33"/>
                </a:solidFill>
                <a:latin typeface="Arial Black"/>
                <a:cs typeface="Arial Black"/>
              </a:rPr>
              <a:t>Mobile</a:t>
            </a:r>
            <a:r>
              <a:rPr dirty="0" sz="600" spc="2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600" spc="-40">
                <a:solidFill>
                  <a:srgbClr val="154B33"/>
                </a:solidFill>
                <a:latin typeface="Arial Black"/>
                <a:cs typeface="Arial Black"/>
              </a:rPr>
              <a:t>App</a:t>
            </a:r>
            <a:r>
              <a:rPr dirty="0" sz="600" spc="50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600">
                <a:solidFill>
                  <a:srgbClr val="154B33"/>
                </a:solidFill>
                <a:latin typeface="Arial"/>
                <a:cs typeface="Arial"/>
              </a:rPr>
              <a:t>Daily Mood Tap, </a:t>
            </a:r>
            <a:r>
              <a:rPr dirty="0" sz="600" spc="-25">
                <a:solidFill>
                  <a:srgbClr val="154B33"/>
                </a:solidFill>
                <a:latin typeface="Arial"/>
                <a:cs typeface="Arial"/>
              </a:rPr>
              <a:t>Ex-</a:t>
            </a:r>
            <a:r>
              <a:rPr dirty="0" sz="600" spc="-30">
                <a:solidFill>
                  <a:srgbClr val="154B33"/>
                </a:solidFill>
                <a:latin typeface="Arial"/>
                <a:cs typeface="Arial"/>
              </a:rPr>
              <a:t>pression</a:t>
            </a:r>
            <a:r>
              <a:rPr dirty="0" sz="600" spc="4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54B33"/>
                </a:solidFill>
                <a:latin typeface="Arial"/>
                <a:cs typeface="Arial"/>
              </a:rPr>
              <a:t>Dashboard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38705" y="948516"/>
            <a:ext cx="1130935" cy="342265"/>
          </a:xfrm>
          <a:custGeom>
            <a:avLst/>
            <a:gdLst/>
            <a:ahLst/>
            <a:cxnLst/>
            <a:rect l="l" t="t" r="r" b="b"/>
            <a:pathLst>
              <a:path w="1130935" h="342265">
                <a:moveTo>
                  <a:pt x="1092666" y="0"/>
                </a:moveTo>
                <a:lnTo>
                  <a:pt x="37958" y="0"/>
                </a:lnTo>
                <a:lnTo>
                  <a:pt x="23182" y="2982"/>
                </a:lnTo>
                <a:lnTo>
                  <a:pt x="11117" y="11117"/>
                </a:lnTo>
                <a:lnTo>
                  <a:pt x="2982" y="23182"/>
                </a:lnTo>
                <a:lnTo>
                  <a:pt x="0" y="37958"/>
                </a:lnTo>
                <a:lnTo>
                  <a:pt x="0" y="304044"/>
                </a:lnTo>
                <a:lnTo>
                  <a:pt x="2982" y="318820"/>
                </a:lnTo>
                <a:lnTo>
                  <a:pt x="11117" y="330885"/>
                </a:lnTo>
                <a:lnTo>
                  <a:pt x="23182" y="339020"/>
                </a:lnTo>
                <a:lnTo>
                  <a:pt x="37958" y="342003"/>
                </a:lnTo>
                <a:lnTo>
                  <a:pt x="1092666" y="342003"/>
                </a:lnTo>
                <a:lnTo>
                  <a:pt x="1107441" y="339020"/>
                </a:lnTo>
                <a:lnTo>
                  <a:pt x="1119506" y="330885"/>
                </a:lnTo>
                <a:lnTo>
                  <a:pt x="1127641" y="318820"/>
                </a:lnTo>
                <a:lnTo>
                  <a:pt x="1130624" y="304044"/>
                </a:lnTo>
                <a:lnTo>
                  <a:pt x="1130624" y="37958"/>
                </a:lnTo>
                <a:lnTo>
                  <a:pt x="1127641" y="23182"/>
                </a:lnTo>
                <a:lnTo>
                  <a:pt x="1119506" y="11117"/>
                </a:lnTo>
                <a:lnTo>
                  <a:pt x="1107441" y="2982"/>
                </a:lnTo>
                <a:lnTo>
                  <a:pt x="1092666" y="0"/>
                </a:lnTo>
                <a:close/>
              </a:path>
            </a:pathLst>
          </a:custGeom>
          <a:ln w="8856">
            <a:solidFill>
              <a:srgbClr val="2268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22399" y="942587"/>
            <a:ext cx="963294" cy="32321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dirty="0" sz="600" spc="-90">
                <a:solidFill>
                  <a:srgbClr val="154B33"/>
                </a:solidFill>
                <a:latin typeface="Arial Black"/>
                <a:cs typeface="Arial Black"/>
              </a:rPr>
              <a:t>Secure</a:t>
            </a:r>
            <a:r>
              <a:rPr dirty="0" sz="600" spc="5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600" spc="-55">
                <a:solidFill>
                  <a:srgbClr val="154B33"/>
                </a:solidFill>
                <a:latin typeface="Arial Black"/>
                <a:cs typeface="Arial Black"/>
              </a:rPr>
              <a:t>Institution</a:t>
            </a:r>
            <a:r>
              <a:rPr dirty="0" sz="600" spc="5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600" spc="-60">
                <a:solidFill>
                  <a:srgbClr val="154B33"/>
                </a:solidFill>
                <a:latin typeface="Arial Black"/>
                <a:cs typeface="Arial Black"/>
              </a:rPr>
              <a:t>Backend</a:t>
            </a:r>
            <a:endParaRPr sz="600">
              <a:latin typeface="Arial Black"/>
              <a:cs typeface="Arial Black"/>
            </a:endParaRPr>
          </a:p>
          <a:p>
            <a:pPr algn="ctr" marL="146050" marR="138430" indent="-635">
              <a:lnSpc>
                <a:spcPct val="108500"/>
              </a:lnSpc>
            </a:pPr>
            <a:r>
              <a:rPr dirty="0" sz="600" spc="-20">
                <a:solidFill>
                  <a:srgbClr val="154B33"/>
                </a:solidFill>
                <a:latin typeface="Arial"/>
                <a:cs typeface="Arial"/>
              </a:rPr>
              <a:t>Phrase</a:t>
            </a:r>
            <a:r>
              <a:rPr dirty="0" sz="600" spc="3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54B33"/>
                </a:solidFill>
                <a:latin typeface="Arial"/>
                <a:cs typeface="Arial"/>
              </a:rPr>
              <a:t>Analysis,</a:t>
            </a:r>
            <a:r>
              <a:rPr dirty="0" sz="600" spc="50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54B33"/>
                </a:solidFill>
                <a:latin typeface="Arial"/>
                <a:cs typeface="Arial"/>
              </a:rPr>
              <a:t>Risk</a:t>
            </a:r>
            <a:r>
              <a:rPr dirty="0" sz="600" spc="-1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54B33"/>
                </a:solidFill>
                <a:latin typeface="Arial"/>
                <a:cs typeface="Arial"/>
              </a:rPr>
              <a:t>Scoring </a:t>
            </a:r>
            <a:r>
              <a:rPr dirty="0" sz="600" spc="-25">
                <a:solidFill>
                  <a:srgbClr val="154B33"/>
                </a:solidFill>
                <a:latin typeface="Arial"/>
                <a:cs typeface="Arial"/>
              </a:rPr>
              <a:t>Engine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76190" y="948516"/>
            <a:ext cx="1130935" cy="342265"/>
          </a:xfrm>
          <a:custGeom>
            <a:avLst/>
            <a:gdLst/>
            <a:ahLst/>
            <a:cxnLst/>
            <a:rect l="l" t="t" r="r" b="b"/>
            <a:pathLst>
              <a:path w="1130935" h="342265">
                <a:moveTo>
                  <a:pt x="1092666" y="0"/>
                </a:moveTo>
                <a:lnTo>
                  <a:pt x="37958" y="0"/>
                </a:lnTo>
                <a:lnTo>
                  <a:pt x="23182" y="2982"/>
                </a:lnTo>
                <a:lnTo>
                  <a:pt x="11117" y="11117"/>
                </a:lnTo>
                <a:lnTo>
                  <a:pt x="2982" y="23182"/>
                </a:lnTo>
                <a:lnTo>
                  <a:pt x="0" y="37958"/>
                </a:lnTo>
                <a:lnTo>
                  <a:pt x="0" y="304044"/>
                </a:lnTo>
                <a:lnTo>
                  <a:pt x="2982" y="318820"/>
                </a:lnTo>
                <a:lnTo>
                  <a:pt x="11117" y="330885"/>
                </a:lnTo>
                <a:lnTo>
                  <a:pt x="23182" y="339020"/>
                </a:lnTo>
                <a:lnTo>
                  <a:pt x="37958" y="342003"/>
                </a:lnTo>
                <a:lnTo>
                  <a:pt x="1092666" y="342003"/>
                </a:lnTo>
                <a:lnTo>
                  <a:pt x="1107441" y="339020"/>
                </a:lnTo>
                <a:lnTo>
                  <a:pt x="1119506" y="330885"/>
                </a:lnTo>
                <a:lnTo>
                  <a:pt x="1127641" y="318820"/>
                </a:lnTo>
                <a:lnTo>
                  <a:pt x="1130624" y="304044"/>
                </a:lnTo>
                <a:lnTo>
                  <a:pt x="1130624" y="37958"/>
                </a:lnTo>
                <a:lnTo>
                  <a:pt x="1127641" y="23182"/>
                </a:lnTo>
                <a:lnTo>
                  <a:pt x="1119506" y="11117"/>
                </a:lnTo>
                <a:lnTo>
                  <a:pt x="1107441" y="2982"/>
                </a:lnTo>
                <a:lnTo>
                  <a:pt x="1092666" y="0"/>
                </a:lnTo>
                <a:close/>
              </a:path>
            </a:pathLst>
          </a:custGeom>
          <a:ln w="8856">
            <a:solidFill>
              <a:srgbClr val="2268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168243" y="942587"/>
            <a:ext cx="94678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5095" marR="5080" indent="-113030">
              <a:lnSpc>
                <a:spcPct val="108500"/>
              </a:lnSpc>
              <a:spcBef>
                <a:spcPts val="100"/>
              </a:spcBef>
            </a:pPr>
            <a:r>
              <a:rPr dirty="0" sz="600" spc="-80">
                <a:solidFill>
                  <a:srgbClr val="154B33"/>
                </a:solidFill>
                <a:latin typeface="Arial Black"/>
                <a:cs typeface="Arial Black"/>
              </a:rPr>
              <a:t>Counselor</a:t>
            </a:r>
            <a:r>
              <a:rPr dirty="0" sz="600" spc="3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600">
                <a:solidFill>
                  <a:srgbClr val="154B33"/>
                </a:solidFill>
                <a:latin typeface="Arial Black"/>
                <a:cs typeface="Arial Black"/>
              </a:rPr>
              <a:t>&amp;</a:t>
            </a:r>
            <a:r>
              <a:rPr dirty="0" sz="600" spc="3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600" spc="-70">
                <a:solidFill>
                  <a:srgbClr val="154B33"/>
                </a:solidFill>
                <a:latin typeface="Arial Black"/>
                <a:cs typeface="Arial Black"/>
              </a:rPr>
              <a:t>Warden</a:t>
            </a:r>
            <a:r>
              <a:rPr dirty="0" sz="600" spc="3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600" spc="-50">
                <a:solidFill>
                  <a:srgbClr val="154B33"/>
                </a:solidFill>
                <a:latin typeface="Arial Black"/>
                <a:cs typeface="Arial Black"/>
              </a:rPr>
              <a:t>Alert</a:t>
            </a:r>
            <a:r>
              <a:rPr dirty="0" sz="600" spc="50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600" spc="-10">
                <a:solidFill>
                  <a:srgbClr val="154B33"/>
                </a:solidFill>
                <a:latin typeface="Arial"/>
                <a:cs typeface="Arial"/>
              </a:rPr>
              <a:t>Decrypted</a:t>
            </a:r>
            <a:r>
              <a:rPr dirty="0" sz="600" spc="1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54B33"/>
                </a:solidFill>
                <a:latin typeface="Arial"/>
                <a:cs typeface="Arial"/>
              </a:rPr>
              <a:t>View</a:t>
            </a:r>
            <a:r>
              <a:rPr dirty="0" sz="600" spc="1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154B33"/>
                </a:solidFill>
                <a:latin typeface="Arial"/>
                <a:cs typeface="Arial"/>
              </a:rPr>
              <a:t>for</a:t>
            </a:r>
            <a:r>
              <a:rPr dirty="0" sz="600" spc="50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54B33"/>
                </a:solidFill>
                <a:latin typeface="Arial"/>
                <a:cs typeface="Arial"/>
              </a:rPr>
              <a:t>High-</a:t>
            </a:r>
            <a:r>
              <a:rPr dirty="0" sz="600">
                <a:solidFill>
                  <a:srgbClr val="154B33"/>
                </a:solidFill>
                <a:latin typeface="Arial"/>
                <a:cs typeface="Arial"/>
              </a:rPr>
              <a:t>Risk</a:t>
            </a:r>
            <a:r>
              <a:rPr dirty="0" sz="600" spc="4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54B33"/>
                </a:solidFill>
                <a:latin typeface="Arial"/>
                <a:cs typeface="Arial"/>
              </a:rPr>
              <a:t>Escalation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36273" y="1101523"/>
            <a:ext cx="1526540" cy="36195"/>
            <a:chOff x="1536273" y="1101523"/>
            <a:chExt cx="1526540" cy="36195"/>
          </a:xfrm>
        </p:grpSpPr>
        <p:sp>
          <p:nvSpPr>
            <p:cNvPr id="13" name="object 13"/>
            <p:cNvSpPr/>
            <p:nvPr/>
          </p:nvSpPr>
          <p:spPr>
            <a:xfrm>
              <a:off x="1536273" y="1119517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 h="0">
                  <a:moveTo>
                    <a:pt x="0" y="0"/>
                  </a:moveTo>
                  <a:lnTo>
                    <a:pt x="158429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85818" y="1106584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0" y="0"/>
                  </a:move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685818" y="1106584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34045" y="12932"/>
                  </a:moveTo>
                  <a:lnTo>
                    <a:pt x="0" y="0"/>
                  </a:ln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873758" y="1119517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 h="0">
                  <a:moveTo>
                    <a:pt x="0" y="0"/>
                  </a:moveTo>
                  <a:lnTo>
                    <a:pt x="158429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23302" y="1106584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0" y="0"/>
                  </a:move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23302" y="1106584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34045" y="12932"/>
                  </a:moveTo>
                  <a:lnTo>
                    <a:pt x="0" y="0"/>
                  </a:ln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32701" y="1478393"/>
            <a:ext cx="39427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Complete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administrative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institution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strict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zero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data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misuse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policies.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3189" y="1731264"/>
            <a:ext cx="3881754" cy="824865"/>
          </a:xfrm>
          <a:custGeom>
            <a:avLst/>
            <a:gdLst/>
            <a:ahLst/>
            <a:cxnLst/>
            <a:rect l="l" t="t" r="r" b="b"/>
            <a:pathLst>
              <a:path w="3881754" h="824864">
                <a:moveTo>
                  <a:pt x="3881666" y="44424"/>
                </a:moveTo>
                <a:lnTo>
                  <a:pt x="3880358" y="44424"/>
                </a:lnTo>
                <a:lnTo>
                  <a:pt x="3877653" y="31076"/>
                </a:lnTo>
                <a:lnTo>
                  <a:pt x="3866743" y="14922"/>
                </a:lnTo>
                <a:lnTo>
                  <a:pt x="3850589" y="4013"/>
                </a:lnTo>
                <a:lnTo>
                  <a:pt x="3830866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773722"/>
                </a:lnTo>
                <a:lnTo>
                  <a:pt x="4013" y="793457"/>
                </a:lnTo>
                <a:lnTo>
                  <a:pt x="14922" y="809612"/>
                </a:lnTo>
                <a:lnTo>
                  <a:pt x="31076" y="820521"/>
                </a:lnTo>
                <a:lnTo>
                  <a:pt x="50812" y="824534"/>
                </a:lnTo>
                <a:lnTo>
                  <a:pt x="3830866" y="824534"/>
                </a:lnTo>
                <a:lnTo>
                  <a:pt x="3850589" y="820521"/>
                </a:lnTo>
                <a:lnTo>
                  <a:pt x="3866743" y="809612"/>
                </a:lnTo>
                <a:lnTo>
                  <a:pt x="3877653" y="793457"/>
                </a:lnTo>
                <a:lnTo>
                  <a:pt x="3881666" y="773722"/>
                </a:lnTo>
                <a:lnTo>
                  <a:pt x="3881666" y="82384"/>
                </a:lnTo>
                <a:lnTo>
                  <a:pt x="3881666" y="50800"/>
                </a:lnTo>
                <a:lnTo>
                  <a:pt x="3881666" y="44424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01294" y="1830895"/>
            <a:ext cx="1530350" cy="457834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800" spc="-114">
                <a:latin typeface="Arial Black"/>
                <a:cs typeface="Arial Black"/>
              </a:rPr>
              <a:t>Tech</a:t>
            </a:r>
            <a:r>
              <a:rPr dirty="0" sz="800" spc="40">
                <a:latin typeface="Arial Black"/>
                <a:cs typeface="Arial Black"/>
              </a:rPr>
              <a:t> </a:t>
            </a:r>
            <a:r>
              <a:rPr dirty="0" sz="800" spc="-10">
                <a:latin typeface="Arial Black"/>
                <a:cs typeface="Arial Black"/>
              </a:rPr>
              <a:t>Stack</a:t>
            </a:r>
            <a:endParaRPr sz="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75">
                <a:latin typeface="Arial Black"/>
                <a:cs typeface="Arial Black"/>
              </a:rPr>
              <a:t>Frontend:</a:t>
            </a:r>
            <a:r>
              <a:rPr dirty="0" sz="800" spc="90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Flutter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195">
                <a:latin typeface="Arial"/>
                <a:cs typeface="Arial"/>
              </a:rPr>
              <a:t>/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React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Native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800" spc="-95">
                <a:latin typeface="Arial Black"/>
                <a:cs typeface="Arial Black"/>
              </a:rPr>
              <a:t>Backend:</a:t>
            </a:r>
            <a:r>
              <a:rPr dirty="0" sz="800" spc="50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FastAPI</a:t>
            </a:r>
            <a:r>
              <a:rPr dirty="0" sz="800" spc="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(Python)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34561" y="1950428"/>
            <a:ext cx="1807845" cy="46609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800" spc="-85">
                <a:latin typeface="Arial Black"/>
                <a:cs typeface="Arial Black"/>
              </a:rPr>
              <a:t>Database:</a:t>
            </a:r>
            <a:r>
              <a:rPr dirty="0" sz="800" spc="50">
                <a:latin typeface="Arial Black"/>
                <a:cs typeface="Arial Black"/>
              </a:rPr>
              <a:t> </a:t>
            </a:r>
            <a:r>
              <a:rPr dirty="0" sz="800" spc="-10">
                <a:latin typeface="Arial"/>
                <a:cs typeface="Arial"/>
              </a:rPr>
              <a:t>Encrypted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PostgreSQL</a:t>
            </a:r>
            <a:endParaRPr sz="800">
              <a:latin typeface="Arial"/>
              <a:cs typeface="Arial"/>
            </a:endParaRPr>
          </a:p>
          <a:p>
            <a:pPr marL="12700" marR="5080" indent="-635">
              <a:lnSpc>
                <a:spcPct val="104600"/>
              </a:lnSpc>
              <a:spcBef>
                <a:spcPts val="225"/>
              </a:spcBef>
              <a:tabLst>
                <a:tab pos="591185" algn="l"/>
              </a:tabLst>
            </a:pPr>
            <a:r>
              <a:rPr dirty="0" sz="800" spc="-10">
                <a:latin typeface="Arial Black"/>
                <a:cs typeface="Arial Black"/>
              </a:rPr>
              <a:t>Security:</a:t>
            </a:r>
            <a:r>
              <a:rPr dirty="0" sz="800">
                <a:latin typeface="Arial Black"/>
                <a:cs typeface="Arial Black"/>
              </a:rPr>
              <a:t>	</a:t>
            </a:r>
            <a:r>
              <a:rPr dirty="0" sz="800" spc="-10">
                <a:latin typeface="Arial"/>
                <a:cs typeface="Arial"/>
              </a:rPr>
              <a:t>Institution-</a:t>
            </a:r>
            <a:r>
              <a:rPr dirty="0" sz="800">
                <a:latin typeface="Arial"/>
                <a:cs typeface="Arial"/>
              </a:rPr>
              <a:t>Hosted</a:t>
            </a:r>
            <a:r>
              <a:rPr dirty="0" sz="800" spc="220">
                <a:latin typeface="Arial"/>
                <a:cs typeface="Arial"/>
              </a:rPr>
              <a:t>  </a:t>
            </a:r>
            <a:r>
              <a:rPr dirty="0" sz="800" spc="-30">
                <a:latin typeface="Arial"/>
                <a:cs typeface="Arial"/>
              </a:rPr>
              <a:t>Secure</a:t>
            </a:r>
            <a:r>
              <a:rPr dirty="0" sz="800" spc="-10">
                <a:latin typeface="Arial"/>
                <a:cs typeface="Arial"/>
              </a:rPr>
              <a:t> Servers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latin typeface="Arial Black"/>
                <a:cs typeface="Arial Black"/>
              </a:rPr>
              <a:t>Innovation</a:t>
            </a:r>
            <a:r>
              <a:rPr dirty="0" sz="1100" spc="25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145">
                <a:latin typeface="Arial Black"/>
                <a:cs typeface="Arial Black"/>
              </a:rPr>
              <a:t>Uniqueness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692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599697"/>
            <a:ext cx="3803650" cy="239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9400">
              <a:lnSpc>
                <a:spcPct val="113100"/>
              </a:lnSpc>
              <a:spcBef>
                <a:spcPts val="100"/>
              </a:spcBef>
            </a:pPr>
            <a:r>
              <a:rPr dirty="0" sz="900" spc="-90">
                <a:latin typeface="Arial Black"/>
                <a:cs typeface="Arial Black"/>
              </a:rPr>
              <a:t>Institution</a:t>
            </a:r>
            <a:r>
              <a:rPr dirty="0" sz="900" spc="15">
                <a:latin typeface="Arial Black"/>
                <a:cs typeface="Arial Black"/>
              </a:rPr>
              <a:t> </a:t>
            </a:r>
            <a:r>
              <a:rPr dirty="0" sz="900" spc="-105">
                <a:latin typeface="Arial Black"/>
                <a:cs typeface="Arial Black"/>
              </a:rPr>
              <a:t>Governance:</a:t>
            </a:r>
            <a:r>
              <a:rPr dirty="0" sz="900" spc="3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Fully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controlled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by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college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administration, eliminating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third-</a:t>
            </a:r>
            <a:r>
              <a:rPr dirty="0" sz="900">
                <a:latin typeface="Arial"/>
                <a:cs typeface="Arial"/>
              </a:rPr>
              <a:t>party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data </a:t>
            </a:r>
            <a:r>
              <a:rPr dirty="0" sz="900" spc="-30">
                <a:latin typeface="Arial"/>
                <a:cs typeface="Arial"/>
              </a:rPr>
              <a:t>harvesting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privacy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breaches.</a:t>
            </a:r>
            <a:endParaRPr sz="900">
              <a:latin typeface="Arial"/>
              <a:cs typeface="Arial"/>
            </a:endParaRPr>
          </a:p>
          <a:p>
            <a:pPr marL="12700" marR="393065">
              <a:lnSpc>
                <a:spcPct val="113100"/>
              </a:lnSpc>
              <a:spcBef>
                <a:spcPts val="994"/>
              </a:spcBef>
            </a:pPr>
            <a:r>
              <a:rPr dirty="0" sz="900" spc="-75">
                <a:latin typeface="Arial Black"/>
                <a:cs typeface="Arial Black"/>
              </a:rPr>
              <a:t>Zero-</a:t>
            </a:r>
            <a:r>
              <a:rPr dirty="0" sz="900" spc="-95">
                <a:latin typeface="Arial Black"/>
                <a:cs typeface="Arial Black"/>
              </a:rPr>
              <a:t>Friction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Daily</a:t>
            </a:r>
            <a:r>
              <a:rPr dirty="0" sz="900" spc="-5">
                <a:latin typeface="Arial Black"/>
                <a:cs typeface="Arial Black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Logging:</a:t>
            </a:r>
            <a:r>
              <a:rPr dirty="0" sz="900" spc="1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Instant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mood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selection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app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startup </a:t>
            </a:r>
            <a:r>
              <a:rPr dirty="0" sz="900" spc="-35">
                <a:latin typeface="Arial"/>
                <a:cs typeface="Arial"/>
              </a:rPr>
              <a:t>maximizes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compliance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without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feeling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like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chore.</a:t>
            </a:r>
            <a:endParaRPr sz="900">
              <a:latin typeface="Arial"/>
              <a:cs typeface="Arial"/>
            </a:endParaRPr>
          </a:p>
          <a:p>
            <a:pPr marL="12700" marR="227329">
              <a:lnSpc>
                <a:spcPct val="113100"/>
              </a:lnSpc>
              <a:spcBef>
                <a:spcPts val="1000"/>
              </a:spcBef>
            </a:pPr>
            <a:r>
              <a:rPr dirty="0" sz="900" spc="-105">
                <a:latin typeface="Arial Black"/>
                <a:cs typeface="Arial Black"/>
              </a:rPr>
              <a:t>Smart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Hybrid</a:t>
            </a:r>
            <a:r>
              <a:rPr dirty="0" sz="900" spc="10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Triage:</a:t>
            </a:r>
            <a:r>
              <a:rPr dirty="0" sz="900" spc="50">
                <a:latin typeface="Arial Black"/>
                <a:cs typeface="Arial Black"/>
              </a:rPr>
              <a:t> </a:t>
            </a:r>
            <a:r>
              <a:rPr dirty="0" sz="900" spc="-40">
                <a:latin typeface="Arial"/>
                <a:cs typeface="Arial"/>
              </a:rPr>
              <a:t>Safe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LLM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handling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mild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distress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coupled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with automated,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direct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escalation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institutional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counselors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wardens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for </a:t>
            </a:r>
            <a:r>
              <a:rPr dirty="0" sz="900">
                <a:latin typeface="Arial"/>
                <a:cs typeface="Arial"/>
              </a:rPr>
              <a:t>critical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risk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levels.</a:t>
            </a:r>
            <a:endParaRPr sz="900">
              <a:latin typeface="Arial"/>
              <a:cs typeface="Arial"/>
            </a:endParaRPr>
          </a:p>
          <a:p>
            <a:pPr marL="12700" marR="279400">
              <a:lnSpc>
                <a:spcPct val="113100"/>
              </a:lnSpc>
              <a:spcBef>
                <a:spcPts val="994"/>
              </a:spcBef>
            </a:pPr>
            <a:r>
              <a:rPr dirty="0" sz="900" spc="-90">
                <a:latin typeface="Arial Black"/>
                <a:cs typeface="Arial Black"/>
              </a:rPr>
              <a:t>Institution</a:t>
            </a:r>
            <a:r>
              <a:rPr dirty="0" sz="900" spc="15">
                <a:latin typeface="Arial Black"/>
                <a:cs typeface="Arial Black"/>
              </a:rPr>
              <a:t> </a:t>
            </a:r>
            <a:r>
              <a:rPr dirty="0" sz="900" spc="-105">
                <a:latin typeface="Arial Black"/>
                <a:cs typeface="Arial Black"/>
              </a:rPr>
              <a:t>Governance:</a:t>
            </a:r>
            <a:r>
              <a:rPr dirty="0" sz="900" spc="3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Fully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controlled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by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college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administration, eliminating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third-</a:t>
            </a:r>
            <a:r>
              <a:rPr dirty="0" sz="900">
                <a:latin typeface="Arial"/>
                <a:cs typeface="Arial"/>
              </a:rPr>
              <a:t>party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data </a:t>
            </a:r>
            <a:r>
              <a:rPr dirty="0" sz="900" spc="-30">
                <a:latin typeface="Arial"/>
                <a:cs typeface="Arial"/>
              </a:rPr>
              <a:t>harvesting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privacy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breaches.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z="900" spc="-100">
                <a:latin typeface="Arial Black"/>
                <a:cs typeface="Arial Black"/>
              </a:rPr>
              <a:t>Proactive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00">
                <a:latin typeface="Arial Black"/>
                <a:cs typeface="Arial Black"/>
              </a:rPr>
              <a:t>Outreach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vs.</a:t>
            </a:r>
            <a:r>
              <a:rPr dirty="0" sz="900" spc="10">
                <a:latin typeface="Arial Black"/>
                <a:cs typeface="Arial Black"/>
              </a:rPr>
              <a:t> </a:t>
            </a:r>
            <a:r>
              <a:rPr dirty="0" sz="900" spc="-130">
                <a:latin typeface="Arial Black"/>
                <a:cs typeface="Arial Black"/>
              </a:rPr>
              <a:t>Passive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Waiting:</a:t>
            </a:r>
            <a:r>
              <a:rPr dirty="0" sz="900" spc="70">
                <a:latin typeface="Arial Black"/>
                <a:cs typeface="Arial Black"/>
              </a:rPr>
              <a:t> </a:t>
            </a:r>
            <a:r>
              <a:rPr dirty="0" sz="900" spc="-10">
                <a:latin typeface="Arial"/>
                <a:cs typeface="Arial"/>
              </a:rPr>
              <a:t>Unlike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standard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chatbots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that</a:t>
            </a:r>
            <a:r>
              <a:rPr dirty="0" sz="900" spc="50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wait </a:t>
            </a:r>
            <a:r>
              <a:rPr dirty="0" sz="900" spc="-45">
                <a:latin typeface="Arial"/>
                <a:cs typeface="Arial"/>
              </a:rPr>
              <a:t>passively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user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type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 prompt,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HAVEN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initiates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care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moment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app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opens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frictionless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daily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check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reaching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out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user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first.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12944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566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7101" y="21583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7101" y="259521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Arial Black"/>
                <a:cs typeface="Arial Black"/>
              </a:rPr>
              <a:t>Feasibility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14">
                <a:latin typeface="Arial Black"/>
                <a:cs typeface="Arial Black"/>
              </a:rPr>
              <a:t>Scalability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5929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500091"/>
            <a:ext cx="1609090" cy="2761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4769">
              <a:lnSpc>
                <a:spcPct val="113100"/>
              </a:lnSpc>
              <a:spcBef>
                <a:spcPts val="100"/>
              </a:spcBef>
            </a:pPr>
            <a:r>
              <a:rPr dirty="0" sz="900" spc="-125">
                <a:latin typeface="Arial Black"/>
                <a:cs typeface="Arial Black"/>
              </a:rPr>
              <a:t>Technical</a:t>
            </a:r>
            <a:r>
              <a:rPr dirty="0" sz="900" spc="50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Feasibility:</a:t>
            </a:r>
            <a:r>
              <a:rPr dirty="0" sz="900" spc="135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Built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on </a:t>
            </a:r>
            <a:r>
              <a:rPr dirty="0" sz="900" spc="-45">
                <a:latin typeface="Arial"/>
                <a:cs typeface="Arial"/>
              </a:rPr>
              <a:t>open-</a:t>
            </a:r>
            <a:r>
              <a:rPr dirty="0" sz="900" spc="-40">
                <a:latin typeface="Arial"/>
                <a:cs typeface="Arial"/>
              </a:rPr>
              <a:t>source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cross-</a:t>
            </a:r>
            <a:r>
              <a:rPr dirty="0" sz="900" spc="-10">
                <a:latin typeface="Arial"/>
                <a:cs typeface="Arial"/>
              </a:rPr>
              <a:t>platform </a:t>
            </a:r>
            <a:r>
              <a:rPr dirty="0" sz="900" spc="-30">
                <a:latin typeface="Arial"/>
                <a:cs typeface="Arial"/>
              </a:rPr>
              <a:t>frameworks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(Flutter/React </a:t>
            </a:r>
            <a:r>
              <a:rPr dirty="0" sz="900">
                <a:latin typeface="Arial"/>
                <a:cs typeface="Arial"/>
              </a:rPr>
              <a:t>Native)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local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encrypted </a:t>
            </a:r>
            <a:r>
              <a:rPr dirty="0" sz="900" spc="-45">
                <a:latin typeface="Arial"/>
                <a:cs typeface="Arial"/>
              </a:rPr>
              <a:t>databases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on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campus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z="900" spc="-130">
                <a:latin typeface="Arial Black"/>
                <a:cs typeface="Arial Black"/>
              </a:rPr>
              <a:t>Resource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Feasibility:</a:t>
            </a:r>
            <a:r>
              <a:rPr dirty="0" sz="900" spc="120">
                <a:latin typeface="Arial Black"/>
                <a:cs typeface="Arial Black"/>
              </a:rPr>
              <a:t> </a:t>
            </a:r>
            <a:r>
              <a:rPr dirty="0" sz="900" spc="-60">
                <a:latin typeface="Arial"/>
                <a:cs typeface="Arial"/>
              </a:rPr>
              <a:t>Leverages</a:t>
            </a:r>
            <a:r>
              <a:rPr dirty="0" sz="900" spc="-20">
                <a:latin typeface="Arial"/>
                <a:cs typeface="Arial"/>
              </a:rPr>
              <a:t> existing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college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cloud infrastructure,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keeping </a:t>
            </a:r>
            <a:r>
              <a:rPr dirty="0" sz="900" spc="-30">
                <a:latin typeface="Arial"/>
                <a:cs typeface="Arial"/>
              </a:rPr>
              <a:t>deployment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maintenance </a:t>
            </a:r>
            <a:r>
              <a:rPr dirty="0" sz="900" spc="-30">
                <a:latin typeface="Arial"/>
                <a:cs typeface="Arial"/>
              </a:rPr>
              <a:t>costs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minimal.</a:t>
            </a:r>
            <a:endParaRPr sz="900">
              <a:latin typeface="Arial"/>
              <a:cs typeface="Arial"/>
            </a:endParaRPr>
          </a:p>
          <a:p>
            <a:pPr marL="12700" marR="123189">
              <a:lnSpc>
                <a:spcPct val="113100"/>
              </a:lnSpc>
              <a:spcBef>
                <a:spcPts val="1000"/>
              </a:spcBef>
            </a:pPr>
            <a:r>
              <a:rPr dirty="0" sz="900" spc="-95">
                <a:latin typeface="Arial Black"/>
                <a:cs typeface="Arial Black"/>
              </a:rPr>
              <a:t>Operational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20">
                <a:latin typeface="Arial Black"/>
                <a:cs typeface="Arial Black"/>
              </a:rPr>
              <a:t>Escalation: </a:t>
            </a:r>
            <a:r>
              <a:rPr dirty="0" sz="900" spc="-30">
                <a:latin typeface="Arial"/>
                <a:cs typeface="Arial"/>
              </a:rPr>
              <a:t>Targeted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risk-</a:t>
            </a:r>
            <a:r>
              <a:rPr dirty="0" sz="900" spc="-30">
                <a:latin typeface="Arial"/>
                <a:cs typeface="Arial"/>
              </a:rPr>
              <a:t>phrase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scoring </a:t>
            </a:r>
            <a:r>
              <a:rPr dirty="0" sz="900" spc="-30">
                <a:latin typeface="Arial"/>
                <a:cs typeface="Arial"/>
              </a:rPr>
              <a:t>avoids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false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alarms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routes </a:t>
            </a:r>
            <a:r>
              <a:rPr dirty="0" sz="900">
                <a:latin typeface="Arial"/>
                <a:cs typeface="Arial"/>
              </a:rPr>
              <a:t>only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verified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high-</a:t>
            </a:r>
            <a:r>
              <a:rPr dirty="0" sz="900">
                <a:latin typeface="Arial"/>
                <a:cs typeface="Arial"/>
              </a:rPr>
              <a:t>risk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cases </a:t>
            </a:r>
            <a:r>
              <a:rPr dirty="0" sz="900">
                <a:latin typeface="Arial"/>
                <a:cs typeface="Arial"/>
              </a:rPr>
              <a:t>directly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authorized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human responders.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4953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39773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4059" y="494063"/>
            <a:ext cx="1979940" cy="110508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3331336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63"/>
                </a:lnTo>
                <a:lnTo>
                  <a:pt x="3317760" y="124663"/>
                </a:lnTo>
                <a:lnTo>
                  <a:pt x="4607992" y="124663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5">
                <a:latin typeface="Arial Black"/>
                <a:cs typeface="Arial Black"/>
              </a:rPr>
              <a:t>Cost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for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Product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(Optional)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2282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1135371"/>
            <a:ext cx="3820795" cy="1054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08940">
              <a:lnSpc>
                <a:spcPct val="113100"/>
              </a:lnSpc>
              <a:spcBef>
                <a:spcPts val="100"/>
              </a:spcBef>
            </a:pPr>
            <a:r>
              <a:rPr dirty="0" sz="900" spc="-25">
                <a:latin typeface="Arial"/>
                <a:cs typeface="Arial"/>
              </a:rPr>
              <a:t>Development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implementation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cost: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Rs.</a:t>
            </a:r>
            <a:r>
              <a:rPr dirty="0" sz="900" spc="-10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0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(leveraging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open-</a:t>
            </a:r>
            <a:r>
              <a:rPr dirty="0" sz="900" spc="-10">
                <a:latin typeface="Arial"/>
                <a:cs typeface="Arial"/>
              </a:rPr>
              <a:t>source </a:t>
            </a:r>
            <a:r>
              <a:rPr dirty="0" sz="900" spc="-30">
                <a:latin typeface="Arial"/>
                <a:cs typeface="Arial"/>
              </a:rPr>
              <a:t>frameworks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existing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institutional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cloud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resources).</a:t>
            </a:r>
            <a:endParaRPr sz="900">
              <a:latin typeface="Arial"/>
              <a:cs typeface="Arial"/>
            </a:endParaRPr>
          </a:p>
          <a:p>
            <a:pPr marL="12700" marR="263525">
              <a:lnSpc>
                <a:spcPct val="113100"/>
              </a:lnSpc>
              <a:spcBef>
                <a:spcPts val="994"/>
              </a:spcBef>
            </a:pPr>
            <a:r>
              <a:rPr dirty="0" sz="900" spc="-25">
                <a:latin typeface="Arial"/>
                <a:cs typeface="Arial"/>
              </a:rPr>
              <a:t>Basic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maintenance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server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upkeep: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Estimated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Rs.</a:t>
            </a:r>
            <a:r>
              <a:rPr dirty="0" sz="900" spc="-10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1,500–</a:t>
            </a:r>
            <a:r>
              <a:rPr dirty="0" sz="900" spc="-25">
                <a:latin typeface="Arial"/>
                <a:cs typeface="Arial"/>
              </a:rPr>
              <a:t>3,000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per </a:t>
            </a:r>
            <a:r>
              <a:rPr dirty="0" sz="900" spc="-10">
                <a:latin typeface="Arial"/>
                <a:cs typeface="Arial"/>
              </a:rPr>
              <a:t>month.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Total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estimated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pilot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budget: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Rs.</a:t>
            </a:r>
            <a:r>
              <a:rPr dirty="0" sz="900" spc="-10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6,000–</a:t>
            </a:r>
            <a:r>
              <a:rPr dirty="0" sz="900" spc="-25">
                <a:latin typeface="Arial"/>
                <a:cs typeface="Arial"/>
              </a:rPr>
              <a:t>12,000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4-</a:t>
            </a:r>
            <a:r>
              <a:rPr dirty="0" sz="900">
                <a:latin typeface="Arial"/>
                <a:cs typeface="Arial"/>
              </a:rPr>
              <a:t>month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campus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rollout.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66514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1020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70">
                <a:latin typeface="Arial Black"/>
                <a:cs typeface="Arial Black"/>
              </a:rPr>
              <a:t>Use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90">
                <a:latin typeface="Arial Black"/>
                <a:cs typeface="Arial Black"/>
              </a:rPr>
              <a:t>Cases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pc="-20"/>
              <a:t>(compulsorily</a:t>
            </a:r>
            <a:r>
              <a:rPr dirty="0" spc="-35"/>
              <a:t> </a:t>
            </a:r>
            <a:r>
              <a:rPr dirty="0"/>
              <a:t>3</a:t>
            </a:r>
            <a:r>
              <a:rPr dirty="0" spc="30"/>
              <a:t> </a:t>
            </a:r>
            <a:r>
              <a:rPr dirty="0" spc="-60"/>
              <a:t>use</a:t>
            </a:r>
            <a:r>
              <a:rPr dirty="0" spc="30"/>
              <a:t> </a:t>
            </a:r>
            <a:r>
              <a:rPr dirty="0" spc="-75"/>
              <a:t>cases</a:t>
            </a:r>
            <a:r>
              <a:rPr dirty="0" spc="30"/>
              <a:t> </a:t>
            </a:r>
            <a:r>
              <a:rPr dirty="0"/>
              <a:t>must</a:t>
            </a:r>
            <a:r>
              <a:rPr dirty="0" spc="30"/>
              <a:t> </a:t>
            </a:r>
            <a:r>
              <a:rPr dirty="0"/>
              <a:t>be</a:t>
            </a:r>
            <a:r>
              <a:rPr dirty="0" spc="30"/>
              <a:t> </a:t>
            </a:r>
            <a:r>
              <a:rPr dirty="0" spc="-10"/>
              <a:t>there)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800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887098"/>
            <a:ext cx="3821429" cy="1675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3100"/>
              </a:lnSpc>
              <a:spcBef>
                <a:spcPts val="100"/>
              </a:spcBef>
            </a:pPr>
            <a:r>
              <a:rPr dirty="0" sz="900" spc="-130">
                <a:latin typeface="Arial Black"/>
                <a:cs typeface="Arial Black"/>
              </a:rPr>
              <a:t>Use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155">
                <a:latin typeface="Arial Black"/>
                <a:cs typeface="Arial Black"/>
              </a:rPr>
              <a:t>case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110">
                <a:latin typeface="Arial Black"/>
                <a:cs typeface="Arial Black"/>
              </a:rPr>
              <a:t>1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(Low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Risk):</a:t>
            </a:r>
            <a:r>
              <a:rPr dirty="0" sz="900" spc="105">
                <a:latin typeface="Arial Black"/>
                <a:cs typeface="Arial Black"/>
              </a:rPr>
              <a:t> </a:t>
            </a:r>
            <a:r>
              <a:rPr dirty="0" sz="900" spc="10">
                <a:latin typeface="Arial"/>
                <a:cs typeface="Arial"/>
              </a:rPr>
              <a:t>A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student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logs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a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5">
                <a:latin typeface="Arial"/>
                <a:cs typeface="Arial"/>
              </a:rPr>
              <a:t>tire</a:t>
            </a:r>
            <a:r>
              <a:rPr dirty="0" sz="900">
                <a:latin typeface="Arial"/>
                <a:cs typeface="Arial"/>
              </a:rPr>
              <a:t>d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mood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and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writes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a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mild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vent.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The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65">
                <a:latin typeface="Arial"/>
                <a:cs typeface="Arial"/>
              </a:rPr>
              <a:t>secure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15">
                <a:latin typeface="Arial"/>
                <a:cs typeface="Arial"/>
              </a:rPr>
              <a:t>LLM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offers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15">
                <a:latin typeface="Arial"/>
                <a:cs typeface="Arial"/>
              </a:rPr>
              <a:t>comforting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reflection,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keeping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interactions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private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and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reassuring.</a:t>
            </a:r>
            <a:endParaRPr sz="900">
              <a:latin typeface="Arial"/>
              <a:cs typeface="Arial"/>
            </a:endParaRPr>
          </a:p>
          <a:p>
            <a:pPr marL="12700" marR="219710">
              <a:lnSpc>
                <a:spcPct val="113100"/>
              </a:lnSpc>
              <a:spcBef>
                <a:spcPts val="994"/>
              </a:spcBef>
            </a:pPr>
            <a:r>
              <a:rPr dirty="0" sz="900" spc="-130">
                <a:latin typeface="Arial Black"/>
                <a:cs typeface="Arial Black"/>
              </a:rPr>
              <a:t>Use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60">
                <a:latin typeface="Arial Black"/>
                <a:cs typeface="Arial Black"/>
              </a:rPr>
              <a:t>case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10">
                <a:latin typeface="Arial Black"/>
                <a:cs typeface="Arial Black"/>
              </a:rPr>
              <a:t>2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(Moderate</a:t>
            </a:r>
            <a:r>
              <a:rPr dirty="0" sz="900" spc="5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Stress):</a:t>
            </a:r>
            <a:r>
              <a:rPr dirty="0" sz="900" spc="5">
                <a:latin typeface="Arial Black"/>
                <a:cs typeface="Arial Black"/>
              </a:rPr>
              <a:t> </a:t>
            </a:r>
            <a:r>
              <a:rPr dirty="0" sz="900" spc="-20">
                <a:latin typeface="Arial"/>
                <a:cs typeface="Arial"/>
              </a:rPr>
              <a:t>Persistent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low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mood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65">
                <a:latin typeface="Arial"/>
                <a:cs typeface="Arial"/>
              </a:rPr>
              <a:t>scores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over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several </a:t>
            </a:r>
            <a:r>
              <a:rPr dirty="0" sz="900" spc="-45">
                <a:latin typeface="Arial"/>
                <a:cs typeface="Arial"/>
              </a:rPr>
              <a:t>days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trigger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supportive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check-</a:t>
            </a:r>
            <a:r>
              <a:rPr dirty="0" sz="900">
                <a:latin typeface="Arial"/>
                <a:cs typeface="Arial"/>
              </a:rPr>
              <a:t>ins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prompts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encouraging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voluntary appointment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campus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counselor.</a:t>
            </a:r>
            <a:endParaRPr sz="900">
              <a:latin typeface="Arial"/>
              <a:cs typeface="Arial"/>
            </a:endParaRPr>
          </a:p>
          <a:p>
            <a:pPr marL="12700" marR="141605">
              <a:lnSpc>
                <a:spcPct val="113100"/>
              </a:lnSpc>
              <a:spcBef>
                <a:spcPts val="1000"/>
              </a:spcBef>
            </a:pPr>
            <a:r>
              <a:rPr dirty="0" sz="900" spc="-130">
                <a:latin typeface="Arial Black"/>
                <a:cs typeface="Arial Black"/>
              </a:rPr>
              <a:t>Use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60">
                <a:latin typeface="Arial Black"/>
                <a:cs typeface="Arial Black"/>
              </a:rPr>
              <a:t>case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10">
                <a:latin typeface="Arial Black"/>
                <a:cs typeface="Arial Black"/>
              </a:rPr>
              <a:t>3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(High-</a:t>
            </a:r>
            <a:r>
              <a:rPr dirty="0" sz="900" spc="-75">
                <a:latin typeface="Arial Black"/>
                <a:cs typeface="Arial Black"/>
              </a:rPr>
              <a:t>Risk</a:t>
            </a:r>
            <a:r>
              <a:rPr dirty="0" sz="900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Crisis):</a:t>
            </a:r>
            <a:r>
              <a:rPr dirty="0" sz="900" spc="-5">
                <a:latin typeface="Arial Black"/>
                <a:cs typeface="Arial Black"/>
              </a:rPr>
              <a:t> </a:t>
            </a:r>
            <a:r>
              <a:rPr dirty="0" sz="900" spc="-50">
                <a:latin typeface="Arial"/>
                <a:cs typeface="Arial"/>
              </a:rPr>
              <a:t>Risk-</a:t>
            </a:r>
            <a:r>
              <a:rPr dirty="0" sz="900" spc="-35">
                <a:latin typeface="Arial"/>
                <a:cs typeface="Arial"/>
              </a:rPr>
              <a:t>phrase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detection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identifies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severe emotional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distress;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immediate</a:t>
            </a:r>
            <a:r>
              <a:rPr dirty="0" sz="900">
                <a:latin typeface="Arial"/>
                <a:cs typeface="Arial"/>
              </a:rPr>
              <a:t> alert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sent</a:t>
            </a:r>
            <a:r>
              <a:rPr dirty="0" sz="900">
                <a:latin typeface="Arial"/>
                <a:cs typeface="Arial"/>
              </a:rPr>
              <a:t> to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campus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counselor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and </a:t>
            </a:r>
            <a:r>
              <a:rPr dirty="0" sz="900" spc="-20">
                <a:latin typeface="Arial"/>
                <a:cs typeface="Arial"/>
              </a:rPr>
              <a:t>hostel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warden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full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details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rapid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intervention.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5720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1640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70330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0">
                <a:latin typeface="Arial Black"/>
                <a:cs typeface="Arial Black"/>
              </a:rPr>
              <a:t>Impacts</a:t>
            </a:r>
            <a:r>
              <a:rPr dirty="0" sz="1100" spc="60">
                <a:latin typeface="Arial Black"/>
                <a:cs typeface="Arial Black"/>
              </a:rPr>
              <a:t> </a:t>
            </a:r>
            <a:r>
              <a:rPr dirty="0" sz="1100" spc="-150">
                <a:latin typeface="Arial Black"/>
                <a:cs typeface="Arial Black"/>
              </a:rPr>
              <a:t>and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Benefits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1662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1073318"/>
            <a:ext cx="3676650" cy="1209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1605">
              <a:lnSpc>
                <a:spcPct val="113100"/>
              </a:lnSpc>
              <a:spcBef>
                <a:spcPts val="100"/>
              </a:spcBef>
            </a:pPr>
            <a:r>
              <a:rPr dirty="0" sz="900" spc="-100">
                <a:latin typeface="Arial Black"/>
                <a:cs typeface="Arial Black"/>
              </a:rPr>
              <a:t>For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Students: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30">
                <a:latin typeface="Arial"/>
                <a:cs typeface="Arial"/>
              </a:rPr>
              <a:t>Safe,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confidential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emotional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outlet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guaranteed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data </a:t>
            </a:r>
            <a:r>
              <a:rPr dirty="0" sz="900" spc="-10">
                <a:latin typeface="Arial"/>
                <a:cs typeface="Arial"/>
              </a:rPr>
              <a:t>protection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timely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75">
                <a:latin typeface="Arial"/>
                <a:cs typeface="Arial"/>
              </a:rPr>
              <a:t>access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real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human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help.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z="900" spc="-100">
                <a:latin typeface="Arial Black"/>
                <a:cs typeface="Arial Black"/>
              </a:rPr>
              <a:t>For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Institutions:</a:t>
            </a:r>
            <a:r>
              <a:rPr dirty="0" sz="900" spc="15">
                <a:latin typeface="Arial Black"/>
                <a:cs typeface="Arial Black"/>
              </a:rPr>
              <a:t> </a:t>
            </a:r>
            <a:r>
              <a:rPr dirty="0" sz="900" spc="-10">
                <a:latin typeface="Arial"/>
                <a:cs typeface="Arial"/>
              </a:rPr>
              <a:t>Proactive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crisis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prevention,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optimized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resource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allocation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counselors,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enhanced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student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welfare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tracking.</a:t>
            </a:r>
            <a:endParaRPr sz="900">
              <a:latin typeface="Arial"/>
              <a:cs typeface="Arial"/>
            </a:endParaRPr>
          </a:p>
          <a:p>
            <a:pPr marL="12700" marR="400685">
              <a:lnSpc>
                <a:spcPct val="113100"/>
              </a:lnSpc>
              <a:spcBef>
                <a:spcPts val="1000"/>
              </a:spcBef>
            </a:pPr>
            <a:r>
              <a:rPr dirty="0" sz="900" spc="-100">
                <a:latin typeface="Arial Black"/>
                <a:cs typeface="Arial Black"/>
              </a:rPr>
              <a:t>For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Society:</a:t>
            </a:r>
            <a:r>
              <a:rPr dirty="0" sz="900" spc="10">
                <a:latin typeface="Arial Black"/>
                <a:cs typeface="Arial Black"/>
              </a:rPr>
              <a:t> </a:t>
            </a:r>
            <a:r>
              <a:rPr dirty="0" sz="900" spc="-20">
                <a:latin typeface="Arial"/>
                <a:cs typeface="Arial"/>
              </a:rPr>
              <a:t>Breaking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mental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health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stigma</a:t>
            </a:r>
            <a:r>
              <a:rPr dirty="0" sz="900">
                <a:latin typeface="Arial"/>
                <a:cs typeface="Arial"/>
              </a:rPr>
              <a:t> on </a:t>
            </a:r>
            <a:r>
              <a:rPr dirty="0" sz="900" spc="-50">
                <a:latin typeface="Arial"/>
                <a:cs typeface="Arial"/>
              </a:rPr>
              <a:t>campuses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through </a:t>
            </a:r>
            <a:r>
              <a:rPr dirty="0" sz="900">
                <a:latin typeface="Arial"/>
                <a:cs typeface="Arial"/>
              </a:rPr>
              <a:t>institutional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accountability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trusted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care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networks.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01" y="160308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0399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550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45">
                <a:solidFill>
                  <a:srgbClr val="154B33"/>
                </a:solidFill>
                <a:latin typeface="Arial Black"/>
                <a:cs typeface="Arial Black"/>
              </a:rPr>
              <a:t>Sustainable</a:t>
            </a:r>
            <a:r>
              <a:rPr dirty="0" sz="1100" spc="10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154B33"/>
                </a:solidFill>
                <a:latin typeface="Arial Black"/>
                <a:cs typeface="Arial Black"/>
              </a:rPr>
              <a:t>Development</a:t>
            </a:r>
            <a:r>
              <a:rPr dirty="0" sz="1100" spc="10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55">
                <a:solidFill>
                  <a:srgbClr val="154B33"/>
                </a:solidFill>
                <a:latin typeface="Arial Black"/>
                <a:cs typeface="Arial Black"/>
              </a:rPr>
              <a:t>Goals</a:t>
            </a:r>
            <a:r>
              <a:rPr dirty="0" sz="1100" spc="10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40">
                <a:solidFill>
                  <a:srgbClr val="154B33"/>
                </a:solidFill>
                <a:latin typeface="Arial Black"/>
                <a:cs typeface="Arial Black"/>
              </a:rPr>
              <a:t>(SDGs)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24002" y="908088"/>
          <a:ext cx="4055110" cy="1844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920"/>
                <a:gridCol w="800735"/>
                <a:gridCol w="1016634"/>
                <a:gridCol w="1405255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2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SDG</a:t>
                      </a:r>
                      <a:endParaRPr sz="900">
                        <a:latin typeface="Arial Black"/>
                        <a:cs typeface="Arial Black"/>
                      </a:endParaRPr>
                    </a:p>
                    <a:p>
                      <a:pPr algn="ctr" marR="63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188595" marR="182245" indent="41275">
                        <a:lnSpc>
                          <a:spcPct val="113100"/>
                        </a:lnSpc>
                        <a:spcBef>
                          <a:spcPts val="580"/>
                        </a:spcBef>
                      </a:pPr>
                      <a:r>
                        <a:rPr dirty="0" sz="900" spc="-5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Target </a:t>
                      </a:r>
                      <a:r>
                        <a:rPr dirty="0" sz="900" spc="-10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736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Goal</a:t>
                      </a:r>
                      <a:r>
                        <a:rPr dirty="0" sz="900" spc="4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Name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38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Connection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3810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</a:tr>
              <a:tr h="775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45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3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Target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3.4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 marR="111760">
                        <a:lnSpc>
                          <a:spcPct val="113100"/>
                        </a:lnSpc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Good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Health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Well-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being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65735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Promotes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mental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health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early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intervention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through </a:t>
                      </a:r>
                      <a:r>
                        <a:rPr dirty="0" sz="900" spc="-60">
                          <a:latin typeface="Arial"/>
                          <a:cs typeface="Arial"/>
                        </a:rPr>
                        <a:t>secure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digital support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45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4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123189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Target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4.a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2318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latin typeface="Arial"/>
                          <a:cs typeface="Arial"/>
                        </a:rPr>
                        <a:t>Quality</a:t>
                      </a:r>
                      <a:r>
                        <a:rPr dirty="0" sz="9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Education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2318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4224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35">
                          <a:latin typeface="Arial"/>
                          <a:cs typeface="Arial"/>
                        </a:rPr>
                        <a:t>Creates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safe,</a:t>
                      </a:r>
                      <a:r>
                        <a:rPr dirty="0" sz="9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inclusive,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supportive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campus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learning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environment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058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154B33"/>
                </a:solidFill>
                <a:latin typeface="Arial Black"/>
                <a:cs typeface="Arial Black"/>
              </a:rPr>
              <a:t>Individual</a:t>
            </a:r>
            <a:r>
              <a:rPr dirty="0" sz="1100" spc="5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154B33"/>
                </a:solidFill>
                <a:latin typeface="Arial Black"/>
                <a:cs typeface="Arial Black"/>
              </a:rPr>
              <a:t>Member</a:t>
            </a:r>
            <a:r>
              <a:rPr dirty="0" sz="1100" spc="6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95">
                <a:solidFill>
                  <a:srgbClr val="154B33"/>
                </a:solidFill>
                <a:latin typeface="Arial Black"/>
                <a:cs typeface="Arial Black"/>
              </a:rPr>
              <a:t>Contribution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7182" y="815251"/>
          <a:ext cx="3750310" cy="184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575"/>
                <a:gridCol w="2628265"/>
              </a:tblGrid>
              <a:tr h="302260"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Member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8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Contribution</a:t>
                      </a:r>
                      <a:r>
                        <a:rPr dirty="0" sz="900" spc="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</a:t>
                      </a:r>
                      <a:r>
                        <a:rPr dirty="0" sz="900" spc="2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4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responsibility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90">
                          <a:latin typeface="Arial Black"/>
                          <a:cs typeface="Arial Black"/>
                        </a:rPr>
                        <a:t>Muppalla</a:t>
                      </a:r>
                      <a:r>
                        <a:rPr dirty="0" sz="900" spc="7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0">
                          <a:latin typeface="Arial Black"/>
                          <a:cs typeface="Arial Black"/>
                        </a:rPr>
                        <a:t>Rishvita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9695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55"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60">
                          <a:latin typeface="Arial"/>
                          <a:cs typeface="Arial"/>
                        </a:rPr>
                        <a:t>cases,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documentation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presentation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design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398780" marR="128905" indent="-27051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>
                          <a:latin typeface="Arial Black"/>
                          <a:cs typeface="Arial Black"/>
                        </a:rPr>
                        <a:t>N</a:t>
                      </a:r>
                      <a:r>
                        <a:rPr dirty="0" sz="900" spc="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14">
                          <a:latin typeface="Arial Black"/>
                          <a:cs typeface="Arial Black"/>
                        </a:rPr>
                        <a:t>Sai</a:t>
                      </a:r>
                      <a:r>
                        <a:rPr dirty="0" sz="900" spc="2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25">
                          <a:latin typeface="Arial Black"/>
                          <a:cs typeface="Arial Black"/>
                        </a:rPr>
                        <a:t>Sameera</a:t>
                      </a:r>
                      <a:r>
                        <a:rPr dirty="0" sz="900" spc="-25">
                          <a:latin typeface="Arial Black"/>
                          <a:cs typeface="Arial Black"/>
                        </a:rPr>
                        <a:t> Ram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8128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Problem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0">
                          <a:latin typeface="Arial"/>
                          <a:cs typeface="Arial"/>
                        </a:rPr>
                        <a:t>research</a:t>
                      </a:r>
                      <a:r>
                        <a:rPr dirty="0" sz="9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literature</a:t>
                      </a:r>
                      <a:r>
                        <a:rPr dirty="0" sz="9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review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25">
                          <a:latin typeface="Arial Black"/>
                          <a:cs typeface="Arial Black"/>
                        </a:rPr>
                        <a:t>Jiya</a:t>
                      </a:r>
                      <a:r>
                        <a:rPr dirty="0" sz="900" spc="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P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9695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Technical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approach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40">
                          <a:latin typeface="Arial"/>
                          <a:cs typeface="Arial"/>
                        </a:rPr>
                        <a:t>risk-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scoring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architecture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38455" marR="161925" indent="-177165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110">
                          <a:latin typeface="Arial Black"/>
                          <a:cs typeface="Arial Black"/>
                        </a:rPr>
                        <a:t>Nandhana</a:t>
                      </a:r>
                      <a:r>
                        <a:rPr dirty="0" sz="900" spc="6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25">
                          <a:latin typeface="Arial Black"/>
                          <a:cs typeface="Arial Black"/>
                        </a:rPr>
                        <a:t>M. </a:t>
                      </a:r>
                      <a:r>
                        <a:rPr dirty="0" sz="900" spc="-10">
                          <a:latin typeface="Arial Black"/>
                          <a:cs typeface="Arial Black"/>
                        </a:rPr>
                        <a:t>Menon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8128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Solution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40"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privacy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45">
                          <a:latin typeface="Arial"/>
                          <a:cs typeface="Arial"/>
                        </a:rPr>
                        <a:t>governance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model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563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154B33"/>
                </a:solidFill>
                <a:latin typeface="Arial Black"/>
                <a:cs typeface="Arial Black"/>
              </a:rPr>
              <a:t>Yukti</a:t>
            </a:r>
            <a:r>
              <a:rPr dirty="0" sz="1100" spc="2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35">
                <a:solidFill>
                  <a:srgbClr val="154B33"/>
                </a:solidFill>
                <a:latin typeface="Arial Black"/>
                <a:cs typeface="Arial Black"/>
              </a:rPr>
              <a:t>ID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35977" y="1277596"/>
            <a:ext cx="2736215" cy="828040"/>
          </a:xfrm>
          <a:custGeom>
            <a:avLst/>
            <a:gdLst/>
            <a:ahLst/>
            <a:cxnLst/>
            <a:rect l="l" t="t" r="r" b="b"/>
            <a:pathLst>
              <a:path w="2736215" h="828039">
                <a:moveTo>
                  <a:pt x="2660120" y="0"/>
                </a:moveTo>
                <a:lnTo>
                  <a:pt x="75916" y="0"/>
                </a:lnTo>
                <a:lnTo>
                  <a:pt x="46365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52095"/>
                </a:lnTo>
                <a:lnTo>
                  <a:pt x="5965" y="781645"/>
                </a:lnTo>
                <a:lnTo>
                  <a:pt x="22235" y="805776"/>
                </a:lnTo>
                <a:lnTo>
                  <a:pt x="46365" y="822045"/>
                </a:lnTo>
                <a:lnTo>
                  <a:pt x="75916" y="828011"/>
                </a:lnTo>
                <a:lnTo>
                  <a:pt x="2660120" y="828011"/>
                </a:lnTo>
                <a:lnTo>
                  <a:pt x="2689670" y="822045"/>
                </a:lnTo>
                <a:lnTo>
                  <a:pt x="2713801" y="805776"/>
                </a:lnTo>
                <a:lnTo>
                  <a:pt x="2730071" y="781645"/>
                </a:lnTo>
                <a:lnTo>
                  <a:pt x="2736036" y="752095"/>
                </a:lnTo>
                <a:lnTo>
                  <a:pt x="2736036" y="75916"/>
                </a:lnTo>
                <a:lnTo>
                  <a:pt x="2730071" y="46366"/>
                </a:lnTo>
                <a:lnTo>
                  <a:pt x="2713801" y="22235"/>
                </a:lnTo>
                <a:lnTo>
                  <a:pt x="2689670" y="5965"/>
                </a:lnTo>
                <a:lnTo>
                  <a:pt x="2660120" y="0"/>
                </a:lnTo>
                <a:close/>
              </a:path>
            </a:pathLst>
          </a:custGeom>
          <a:ln w="15183">
            <a:solidFill>
              <a:srgbClr val="2268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76883" y="1536186"/>
            <a:ext cx="1654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160">
                <a:solidFill>
                  <a:srgbClr val="154B33"/>
                </a:solidFill>
                <a:latin typeface="Arial Black"/>
                <a:cs typeface="Arial Black"/>
              </a:rPr>
              <a:t>IR2026-</a:t>
            </a:r>
            <a:r>
              <a:rPr dirty="0" sz="1700" spc="-165">
                <a:solidFill>
                  <a:srgbClr val="154B33"/>
                </a:solidFill>
                <a:latin typeface="Arial Black"/>
                <a:cs typeface="Arial Black"/>
              </a:rPr>
              <a:t>1051099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20813" y="1180064"/>
            <a:ext cx="766445" cy="180340"/>
          </a:xfrm>
          <a:custGeom>
            <a:avLst/>
            <a:gdLst/>
            <a:ahLst/>
            <a:cxnLst/>
            <a:rect l="l" t="t" r="r" b="b"/>
            <a:pathLst>
              <a:path w="766444" h="180340">
                <a:moveTo>
                  <a:pt x="715753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29269"/>
                </a:lnTo>
                <a:lnTo>
                  <a:pt x="3977" y="148970"/>
                </a:lnTo>
                <a:lnTo>
                  <a:pt x="14823" y="165057"/>
                </a:lnTo>
                <a:lnTo>
                  <a:pt x="30910" y="175903"/>
                </a:lnTo>
                <a:lnTo>
                  <a:pt x="50610" y="179880"/>
                </a:lnTo>
                <a:lnTo>
                  <a:pt x="715753" y="179880"/>
                </a:lnTo>
                <a:lnTo>
                  <a:pt x="735454" y="175903"/>
                </a:lnTo>
                <a:lnTo>
                  <a:pt x="751541" y="165057"/>
                </a:lnTo>
                <a:lnTo>
                  <a:pt x="762387" y="148970"/>
                </a:lnTo>
                <a:lnTo>
                  <a:pt x="766364" y="129269"/>
                </a:lnTo>
                <a:lnTo>
                  <a:pt x="766364" y="50610"/>
                </a:lnTo>
                <a:lnTo>
                  <a:pt x="762387" y="30910"/>
                </a:lnTo>
                <a:lnTo>
                  <a:pt x="751541" y="14823"/>
                </a:lnTo>
                <a:lnTo>
                  <a:pt x="735454" y="3977"/>
                </a:lnTo>
                <a:lnTo>
                  <a:pt x="715753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70125" y="1182974"/>
            <a:ext cx="4679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0">
                <a:solidFill>
                  <a:srgbClr val="FFFFFF"/>
                </a:solidFill>
                <a:latin typeface="Arial Black"/>
                <a:cs typeface="Arial Black"/>
              </a:rPr>
              <a:t>Yukti</a:t>
            </a:r>
            <a:r>
              <a:rPr dirty="0" sz="900" spc="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ID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70"/>
              <a:t>166</a:t>
            </a:r>
            <a:r>
              <a:rPr dirty="0" spc="30"/>
              <a:t> </a:t>
            </a:r>
            <a:r>
              <a:rPr dirty="0"/>
              <a:t>|</a:t>
            </a:r>
            <a:r>
              <a:rPr dirty="0" spc="35"/>
              <a:t> </a:t>
            </a:r>
            <a:r>
              <a:rPr dirty="0" spc="-65"/>
              <a:t>FixedHacks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4B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Team ID: GEN26-A0H-I166[0.2cm] Team Name: FixedHacks[0.2cm] Domain: Healthcare, Biotechnology &amp; Human Well-being</dc:creator>
  <dc:title>Genesis Ideathon: Final Presentation</dc:title>
  <dcterms:created xsi:type="dcterms:W3CDTF">2026-10-11T07:53:53Z</dcterms:created>
  <dcterms:modified xsi:type="dcterms:W3CDTF">2026-10-11T07:53:53Z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2026-10-11T00:00:00Z</vt:filetime>
  </property>
  <property fmtid="{D5CDD505-2E9C-101B-9397-08002B2CF9AE}" pid="5" name="PTEX.Fullbanner">
    <vt:lpwstr>This is pdfTeX, Version 3.141592653-2.6-1.40.29 (TeX Live 2026) kpathsea version 6.4.2</vt:lpwstr>
  </property>
  <property fmtid="{D5CDD505-2E9C-101B-9397-08002B2CF9AE}" pid="6" name="Producer">
    <vt:lpwstr>pdfTeX-1.40.29</vt:lpwstr>
  </property>
</Properties>
</file>